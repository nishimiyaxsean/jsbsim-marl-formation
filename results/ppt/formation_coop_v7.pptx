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各位专家好。本课题聚焦于高动态、强非线性环境下的多智能体非对称协同追击。底层基于 60Hz PID 与前馈补偿锁死航向/高度/航速，注入 1/V^2 动态配平与过载迎角保护器，构建 9 个 BFM 动作图元，根治海豚跳套利，确保高层 RL 聚焦纯粹战术协同。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IPPO 导致 -7,536 内卷死锁。连续高斯噪声使策略在 600 步长时序中严重抖动。AND-gate 下空间完美但时间零分——长机 329m 突入截断，僚机 1,974m 外绝望。时空脱节死锁。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推翻了扁平拼接，开发 Token-Based 多头自注意力。参数共享下同权重不同 Mate Token 引爆对称破缺。集中式评论员提供全局价值引导。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面对连续高斯噪声的同步失效，实施动作空间降维打击。重构为 MultiDiscrete([5,3])。熵上限锁死在 2.71。离散化释放 Action Masking 红利。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 50 轮色块均匀平铺。250 轮后僚机以 80% 概率输出 Fast，长机自发 Slow 减速。80m/s 速度差强行合拢时间缺口。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面对严格 AND-gate 的价值真空区，实施动态距离包线退火。探索初期 2000m 门槛即引爆 +5,000 奖赏。DAC 将基线拉升 5,000 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 100 轮贡献完全由 Progress 和压低 DAP 占据。150 轮退火收紧后协同合围奖励面积单调扩张。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由浅入深 7 个对照组。IPPO 崩溃→OR-gate 冲破天花板 33%→AND 揭示连续局限→离散 Self-Attn 零知识转正。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冷启动 Self-Attn 在 320 轮内轰出 3 次 Eval 大转正，最高 +2,376。协同引导已成统计本能。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7,858 步角色切片。双机 Self→Mate 全时锁在 0.44-0.45。持续性隐式协同——MARL 涌现最高级形态。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DAC 实现 5,000 分暴涨和 3 次转正，但 320 轮仍有回落。Vanilla CTDE 缺乏 ΔTGO 路由。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参数共享+语义 Token 具备零成本 N 机外推。引入匈牙利算法剪枝火力分配，深化 SMDP 分层重构，通过 Self-Play 在对抗中螺旋升级。感谢各位专家，请多指教。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63040"/>
            <a:ext cx="2011680" cy="54864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基于六自由度气动动力学的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多智能体协同追击决策涌现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Token-Based CTDE with Self-Attention + Discrete Primitives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JSBSim 6-DOF F-16 编队追猎中超越集中式 PPO 上限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120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 Nishimiya  ·  Zhejiang University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45720" cy="4114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核心卡点: 协同的死亡三角与时空脱节死锁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1161288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3749040" cy="5303520"/>
          </a:xfrm>
          <a:prstGeom prst="roundRect">
            <a:avLst>
              <a:gd name="adj" fmla="val 122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非平稳性死锁 (Non-Stationarity)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1480" y="155448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独立 IPPO 缺乏隐式表征与全局价值引导，网络梯度充斥互干扰噪声，训练坠入 -7,536 死锁平台。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11480" y="4846320"/>
            <a:ext cx="3474720" cy="548640"/>
          </a:xfrm>
          <a:prstGeom prst="roundRect">
            <a:avLst>
              <a:gd name="adj" fmla="val 8333"/>
            </a:avLst>
          </a:prstGeom>
          <a:solidFill>
            <a:srgbClr val="2CC44D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8463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参数共享 MAPPO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06240" y="914400"/>
            <a:ext cx="3749040" cy="5303520"/>
          </a:xfrm>
          <a:prstGeom prst="roundRect">
            <a:avLst>
              <a:gd name="adj" fmla="val 122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4340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探索高斯噪声耗散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43400" y="155448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 Box(2) 依赖高斯方差盲目探索，600 步长时序中动作高频抖动 (Chattering)，无法输出坚决战术决断。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343400" y="4846320"/>
            <a:ext cx="3474720" cy="548640"/>
          </a:xfrm>
          <a:prstGeom prst="roundRect">
            <a:avLst>
              <a:gd name="adj" fmla="val 8333"/>
            </a:avLst>
          </a:prstGeom>
          <a:solidFill>
            <a:srgbClr val="2CC44D"/>
          </a:solidFill>
          <a:ln/>
        </p:spPr>
      </p:sp>
      <p:sp>
        <p:nvSpPr>
          <p:cNvPr id="15" name="Text 13"/>
          <p:cNvSpPr/>
          <p:nvPr/>
        </p:nvSpPr>
        <p:spPr>
          <a:xfrm>
            <a:off x="4434840" y="48463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离散动作 (熵上限 2.71)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914400"/>
            <a:ext cx="3749040" cy="5303520"/>
          </a:xfrm>
          <a:prstGeom prst="roundRect">
            <a:avLst>
              <a:gd name="adj" fmla="val 122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7532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时空相位脱节 (AND-gate)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75320" y="155448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空间 34.8° 黄金包抄——合格。时间同步率 0.0%——长机 329m 突入截断，僚机 1,974m 外绝望。交战步数腰斩至 165。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75320" y="4846320"/>
            <a:ext cx="3474720" cy="548640"/>
          </a:xfrm>
          <a:prstGeom prst="roundRect">
            <a:avLst>
              <a:gd name="adj" fmla="val 8333"/>
            </a:avLst>
          </a:prstGeom>
          <a:solidFill>
            <a:srgbClr val="2CC44D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48463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DAC 退火 + 配速惩罚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45720" cy="4114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架构重构 A: 参数共享 Self-Attention CTDE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1161288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960120"/>
            <a:ext cx="59436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5669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打破扁平拼接: 33-dim 解耦为 Self(13) / Target(14) / Mate(6) 三个独立语义 Token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0040" y="1399032"/>
            <a:ext cx="59436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399032"/>
            <a:ext cx="5669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4-Head MHA (d=128) → Learned Attention Pooling → MLP [256,256] → 动作输出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20040" y="1837944"/>
            <a:ext cx="59436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1837944"/>
            <a:ext cx="5669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参数共享 + 位置无关性 (Permutation Invariance): 同权重不同 Mate → 自发性对称破缺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0040" y="2276856"/>
            <a:ext cx="59436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2276856"/>
            <a:ext cx="5669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Critic: 联合全局状态 → 无偏低方差价值引导信号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20040" y="292608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管道: [Self][Target][Mate] → Linear → 4H-MHA → Pool → [256,256] → Action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675120" y="960120"/>
            <a:ext cx="173736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675120" y="99669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0.450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675120" y="14630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Striker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Self→Mate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595360" y="960120"/>
            <a:ext cx="173736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595360" y="99669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-0.53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595360" y="14630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 d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(large)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515600" y="960120"/>
            <a:ext cx="173736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515600" y="99669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0.44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0515600" y="14630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Mate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pic>
        <p:nvPicPr>
          <p:cNvPr id="24" name="Image 0" descr="results/viz/fig3_role_attention_matri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2377440"/>
            <a:ext cx="50292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45720" cy="4114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架构重构 B: 离散战术图元 + Action Masking 上游剪枝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1161288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960120"/>
            <a:ext cx="54864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种宏观战术图元: 5 档航向率 (急左/缓左/直飞/缓右/急右) × 3 档速度基线 (慢速180m/s / 巡航250m/s / 加力320m/s)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0040" y="1399032"/>
            <a:ext cx="54864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399032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探索熵上限数学锁死在 ln(5)+ln(3) ≈ 2.71 ——硬性约束，消除浮点边缘颤噪 Runaway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20040" y="1837944"/>
            <a:ext cx="54864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1837944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Masking: 失速(&lt;130m/s)→禁慢速+急转; 近地(&lt;200m)→禁急转; 超速→禁加力。上游 Logits 抹为 -inf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217920" y="960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(5档)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1325880"/>
            <a:ext cx="5303520" cy="365760"/>
          </a:xfrm>
          <a:prstGeom prst="roundRect">
            <a:avLst>
              <a:gd name="adj" fmla="val 1250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09360" y="13258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0" y="13258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急左转 -15°/s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17920" y="1728216"/>
            <a:ext cx="5303520" cy="365760"/>
          </a:xfrm>
          <a:prstGeom prst="roundRect">
            <a:avLst>
              <a:gd name="adj" fmla="val 1250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9360" y="1728216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75120" y="172821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缓左转 -5°/s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17920" y="2130552"/>
            <a:ext cx="5303520" cy="365760"/>
          </a:xfrm>
          <a:prstGeom prst="roundRect">
            <a:avLst>
              <a:gd name="adj" fmla="val 1250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09360" y="213055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21305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直飞 0°/s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0" y="2532888"/>
            <a:ext cx="5303520" cy="365760"/>
          </a:xfrm>
          <a:prstGeom prst="roundRect">
            <a:avLst>
              <a:gd name="adj" fmla="val 1250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309360" y="2532888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253288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缓右转 +5°/s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217920" y="2935224"/>
            <a:ext cx="5303520" cy="365760"/>
          </a:xfrm>
          <a:prstGeom prst="roundRect">
            <a:avLst>
              <a:gd name="adj" fmla="val 1250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309360" y="2935224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75120" y="293522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急右转 +15°/s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179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(3档)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17920" y="3867912"/>
            <a:ext cx="5303520" cy="365760"/>
          </a:xfrm>
          <a:prstGeom prst="roundRect">
            <a:avLst>
              <a:gd name="adj" fmla="val 1250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309360" y="386791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675120" y="386791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慢速 180 m/s (挂杆等待)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217920" y="4270248"/>
            <a:ext cx="5303520" cy="365760"/>
          </a:xfrm>
          <a:prstGeom prst="roundRect">
            <a:avLst>
              <a:gd name="adj" fmla="val 1250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309360" y="4270248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675120" y="427024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巡航 250 m/s (均衡追击)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217920" y="4672584"/>
            <a:ext cx="5303520" cy="365760"/>
          </a:xfrm>
          <a:prstGeom prst="roundRect">
            <a:avLst>
              <a:gd name="adj" fmla="val 12500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309360" y="4672584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675120" y="467258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 320 m/s (加力冲刺)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45720" cy="4114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动作图元时序演变: 从无序探索到确定性战术固化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11612880" cy="10973"/>
          </a:xfrm>
          <a:prstGeom prst="rect">
            <a:avLst/>
          </a:prstGeom>
          <a:solidFill>
            <a:srgbClr val="E8F0F4"/>
          </a:solidFill>
          <a:ln/>
        </p:spPr>
      </p:sp>
      <p:pic>
        <p:nvPicPr>
          <p:cNvPr id="6" name="Image 0" descr="results/viz/paper_charts/chart1_action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" y="914400"/>
            <a:ext cx="7772400" cy="5669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0" y="1005840"/>
            <a:ext cx="365760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关键发现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早期 (0-50轮): 色块均匀平铺，Categorical 盲目探索期。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后期 (250-320轮): 僚机 Fast (260m/s) 概率锁定 78%+；长机自发大面积 Slow (180m/s)。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结论: 双机自发通过 80m/s 宏观速度差收拢弧长差——闭环高级协同涌现。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45720" cy="4114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核心机制创新: 动态包线退火 (DAC) + 非对称惩罚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1161288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960120"/>
            <a:ext cx="658368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6309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距离不对称惩罚 (DAP): |d0-d1|&gt;500m → 团队受罚，摧毁盲目搭便车死锁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0040" y="1399032"/>
            <a:ext cx="658368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399032"/>
            <a:ext cx="6309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动态退火 (DAC): Thresh = max(800, 2000−decay×iter)。前 100 轮 2000m 即引爆 +5,000 成功奖赏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" y="1837944"/>
            <a:ext cx="658368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1837944"/>
            <a:ext cx="6309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配速惩罚: Striker&lt;1200m 且 Int&gt;1500m → 强制长机等待僚机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20040" y="2276856"/>
            <a:ext cx="658368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2276856"/>
            <a:ext cx="6309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效果: AND-gate 基线从 −5,909 暴力拉升 5,000 分至 −1,171 突破性高度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15200" y="960120"/>
            <a:ext cx="23317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0" y="9966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+5,000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15200" y="14630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 拉升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(vs 严格)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29800" y="960120"/>
            <a:ext cx="23317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829800" y="9966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−5,909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829800" y="14630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重构前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基线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0" y="2331720"/>
            <a:ext cx="23317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15200" y="23682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−1,171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315200" y="28346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 后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最优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829800" y="2331720"/>
            <a:ext cx="23317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829800" y="23682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1,974m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9829800" y="28346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中位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(极限)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45720" cy="4114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奖励成分解耦: 课程学习的梯度接力实证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11612880" cy="10973"/>
          </a:xfrm>
          <a:prstGeom prst="rect">
            <a:avLst/>
          </a:prstGeom>
          <a:solidFill>
            <a:srgbClr val="E8F0F4"/>
          </a:solidFill>
          <a:ln/>
        </p:spPr>
      </p:sp>
      <p:pic>
        <p:nvPicPr>
          <p:cNvPr id="6" name="Image 0" descr="results/viz/paper_charts/chart3_reward_breakdow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" y="1005840"/>
            <a:ext cx="7589520" cy="5486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0" y="1005840"/>
            <a:ext cx="384048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高粒度时序物理解耦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 100 轮: Progress+ATA 主导，DAP 被压低。未发生 Reward Hacking。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轮后退火收紧: 协同合围奖励面积单调扩张——完美 Handover。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课程学习搭梯子跨越价值真空的演进机理。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45720" cy="4114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全版本消融大盘点: 六代模型完整进化证据链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1161288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" y="1051560"/>
            <a:ext cx="11521440" cy="43891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" y="105156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实验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105156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0" y="1051560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动作空间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0" y="1051560"/>
            <a:ext cx="1005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35040" y="1051560"/>
            <a:ext cx="731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轮数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66560" y="1051560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最佳 Eval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1051560"/>
            <a:ext cx="731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Eval&gt;0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778240" y="1051560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关键发现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82880" y="1536192"/>
            <a:ext cx="11521440" cy="603504"/>
          </a:xfrm>
          <a:prstGeom prst="roundRect">
            <a:avLst>
              <a:gd name="adj" fmla="val 7576"/>
            </a:avLst>
          </a:prstGeom>
          <a:solidFill>
            <a:srgbClr val="F2F7F9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" y="1536192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1 (非协同)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11680" y="1536192"/>
            <a:ext cx="1371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Attn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1536192"/>
            <a:ext cx="1645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Box(2)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1536192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SB3 BC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035040" y="1536192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1536192"/>
            <a:ext cx="1280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-8,053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0" y="1536192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778240" y="1536192"/>
            <a:ext cx="2926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IPPO内卷死锁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2880" y="2185416"/>
            <a:ext cx="115214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82880" y="2185416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2 (OR-gate)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011680" y="2185416"/>
            <a:ext cx="1371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Attn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2185416"/>
            <a:ext cx="1645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Box(2)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0" y="2185416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SB3 BC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2185416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66560" y="2185416"/>
            <a:ext cx="1280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+7,888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46720" y="2185416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0" y="2185416"/>
            <a:ext cx="2926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超SB3天花板33%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2880" y="2834640"/>
            <a:ext cx="11521440" cy="603504"/>
          </a:xfrm>
          <a:prstGeom prst="roundRect">
            <a:avLst>
              <a:gd name="adj" fmla="val 7576"/>
            </a:avLst>
          </a:prstGeom>
          <a:solidFill>
            <a:srgbClr val="F2F7F9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82880" y="2834640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3v3 (AND退火)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011680" y="2834640"/>
            <a:ext cx="1371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Attn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383280" y="2834640"/>
            <a:ext cx="1645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Box(2)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0" y="2834640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SB3 BC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35040" y="2834640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766560" y="2834640"/>
            <a:ext cx="1280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-1,171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046720" y="2834640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778240" y="2834640"/>
            <a:ext cx="2926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DAC拉升5000分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2880" y="3483864"/>
            <a:ext cx="115214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82880" y="3483864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4a (MLP)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011680" y="3483864"/>
            <a:ext cx="1371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fallback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83280" y="3483864"/>
            <a:ext cx="1645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29200" y="3483864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035040" y="3483864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766560" y="3483864"/>
            <a:ext cx="1280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-4,542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046720" y="3483864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778240" y="3483864"/>
            <a:ext cx="2926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纯MLP零BC—基线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82880" y="4133088"/>
            <a:ext cx="11521440" cy="603504"/>
          </a:xfrm>
          <a:prstGeom prst="roundRect">
            <a:avLst>
              <a:gd name="adj" fmla="val 7576"/>
            </a:avLst>
          </a:prstGeom>
          <a:solidFill>
            <a:srgbClr val="F2F7F9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182880" y="4133088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4a-v2 (Attn)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2011680" y="4133088"/>
            <a:ext cx="1371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383280" y="4133088"/>
            <a:ext cx="1645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029200" y="41330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035040" y="4133088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766560" y="4133088"/>
            <a:ext cx="1280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+1,345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046720" y="4133088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1x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778240" y="4133088"/>
            <a:ext cx="2926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Self-Attn冷启转正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182880" y="4782312"/>
            <a:ext cx="115214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182880" y="4782312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4b (Attn+BC)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2011680" y="4782312"/>
            <a:ext cx="1371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3383280" y="4782312"/>
            <a:ext cx="1645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029200" y="4782312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离散BC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035040" y="4782312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6766560" y="4782312"/>
            <a:ext cx="1280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-1,135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8046720" y="4782312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8778240" y="4782312"/>
            <a:ext cx="2926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BC稳定无额外峰值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182880" y="5431536"/>
            <a:ext cx="11521440" cy="603504"/>
          </a:xfrm>
          <a:prstGeom prst="roundRect">
            <a:avLst>
              <a:gd name="adj" fmla="val 7576"/>
            </a:avLst>
          </a:prstGeom>
          <a:solidFill>
            <a:srgbClr val="F2F7F9"/>
          </a:solidFill>
          <a:ln w="6350">
            <a:solidFill>
              <a:srgbClr val="E8F0F4"/>
            </a:solidFill>
            <a:prstDash val="solid"/>
          </a:ln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182880" y="5431536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4a-v2 ext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011680" y="5431536"/>
            <a:ext cx="1371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383280" y="5431536"/>
            <a:ext cx="1645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029200" y="5431536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6035040" y="5431536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6766560" y="5431536"/>
            <a:ext cx="1280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+2,376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046720" y="5431536"/>
            <a:ext cx="731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778240" y="5431536"/>
            <a:ext cx="2926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零知识涌现—结构定上限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82880" y="6126480"/>
            <a:ext cx="11521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完整进化链: IPPO崩溃 → 连续拉升 → AND脱节 → 离散Self-Attn零知识转正。Inductive Bias决定上限。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45720" cy="4114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核心成果 1: 离散自注意力下的零知识战术涌现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1161288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960120"/>
            <a:ext cx="54864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打破死记硬背质疑: 绝对冷启动，320 轮 3 次 Eval 大转正 (+1,345, +2,376, +4.0)，最高峰 +2,376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0040" y="1399032"/>
            <a:ext cx="54864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399032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轨迹校准: X:Y:Z=1:1:0.1 轴比修正。长机 200m 锁敌，高度 ±10m 固化，无重力套利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" y="1837944"/>
            <a:ext cx="54864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1837944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KDE 统计铁证: 50 集 15,000+ 帧。红方打点在敌机尾部 35°-60° 凝聚深红热区——协同引导已成统计本能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20040" y="3794760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20040" y="383133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+2,376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20040" y="42976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最高Eval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突破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51760" y="3794760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51760" y="383133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3×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651760" y="42976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正向转正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83480" y="3794760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83480" y="383133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983480" y="42976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冷启动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轮数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3794760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0" y="383133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315200" y="42976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专家样本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干预</a:t>
            </a:r>
            <a:endParaRPr lang="en-US" sz="1200" dirty="0"/>
          </a:p>
        </p:txBody>
      </p:sp>
      <p:pic>
        <p:nvPicPr>
          <p:cNvPr id="24" name="Image 0" descr="results/viz/paper_charts/chart2_spatial_k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1005840"/>
            <a:ext cx="3017520" cy="2743200"/>
          </a:xfrm>
          <a:prstGeom prst="rect">
            <a:avLst/>
          </a:prstGeom>
        </p:spPr>
      </p:pic>
      <p:pic>
        <p:nvPicPr>
          <p:cNvPr id="25" name="Image 1" descr="results/viz/paper_charts/chart5_health_metric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418320" y="1005840"/>
            <a:ext cx="25603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45720" cy="4114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核心成果 2: 自发性对称破缺与持续性隐式协同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1161288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960120"/>
            <a:ext cx="54864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 d = -0.53 强效应量: 7,858 步角色切片。Interceptor MHA Self→Target 超越 Striker 31%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0040" y="1399032"/>
            <a:ext cx="54864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399032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持续性隐式协同: 两机 MHA Self→Mate 全时锁定 0.44-0.45。推翻二元切换假设——骨子里全时默契，仅基于物理拓扑微调专注度</a:t>
            </a:r>
            <a:endParaRPr lang="en-US" sz="1800" dirty="0"/>
          </a:p>
        </p:txBody>
      </p:sp>
      <p:pic>
        <p:nvPicPr>
          <p:cNvPr id="10" name="Image 0" descr="results/viz/fig3_role_attention_matri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914400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45720" cy="4114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信息论边界: CTDE 熵墙与 Failure Case 深度解剖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1161288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1005840"/>
            <a:ext cx="5303520" cy="640080"/>
          </a:xfrm>
          <a:prstGeom prst="roundRect">
            <a:avLst>
              <a:gd name="adj" fmla="val 714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0058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双机同步入线率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10058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0.0%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135331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致命瓶颈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1682496"/>
            <a:ext cx="5303520" cy="640080"/>
          </a:xfrm>
          <a:prstGeom prst="roundRect">
            <a:avLst>
              <a:gd name="adj" fmla="val 714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168249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单机入线率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168249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22.1%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202996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可以接近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359152"/>
            <a:ext cx="5303520" cy="640080"/>
          </a:xfrm>
          <a:prstGeom prst="roundRect">
            <a:avLst>
              <a:gd name="adj" fmla="val 714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235915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夹击角 &gt;30°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40480" y="23591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58.4%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" y="2706624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空间合格!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3035808"/>
            <a:ext cx="5303520" cy="640080"/>
          </a:xfrm>
          <a:prstGeom prst="roundRect">
            <a:avLst>
              <a:gd name="adj" fmla="val 714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2920" y="303580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中位距离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40480" y="303580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329 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2920" y="338328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逼近出色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712464"/>
            <a:ext cx="5303520" cy="640080"/>
          </a:xfrm>
          <a:prstGeom prst="roundRect">
            <a:avLst>
              <a:gd name="adj" fmla="val 7143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02920" y="37124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中位距离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0" y="3712464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1,974 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2920" y="40599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无法缩小差距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4846320"/>
            <a:ext cx="576072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72200" y="4846320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边缘悬崖: 320 轮后期 Logits 跨格点抖动跌至 -6,653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035040" y="5285232"/>
            <a:ext cx="576072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172200" y="5285232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CTDE 天花板: 33-dim 局部视界缺乏 ΔTGO 表达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035040" y="5724144"/>
            <a:ext cx="576072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172200" y="5724144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诚实结论: 划定扁平无通信分布式控制在严格 AND 同步任务的理论边界</a:t>
            </a:r>
            <a:endParaRPr lang="en-US" sz="1400" dirty="0"/>
          </a:p>
        </p:txBody>
      </p:sp>
      <p:pic>
        <p:nvPicPr>
          <p:cNvPr id="32" name="Image 0" descr="results/viz/paper_charts/chart4_termination_reas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051560"/>
            <a:ext cx="576072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45720" cy="4114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未来进军路线: 层级 SMDP + 匈牙利指派 + Self-Play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1161288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051560"/>
            <a:ext cx="116128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34440" y="114300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大规模外推 + 匈牙利算法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15087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参数共享+语义 Token 零成本 N 机扩展。转向 3v1/4v2，挂载匈牙利算法剪枝火力-目标匹配组合爆炸。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74320" y="2286000"/>
            <a:ext cx="116128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6888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34440" y="23774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微分层 SMDP 重构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27432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上层 Policy 2Hz 专注宏观 BFM 意图坚决输出；下层 Action Masking 60Hz 物理安全锁死。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74320" y="3520440"/>
            <a:ext cx="116128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70332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703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234440" y="361188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Self-Play + League Training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34440" y="397764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群体课程自博弈 (PCSP) + 联赛训练，拆除固定脚本，红蓝对抗中螺旋进化最高阶空战战术。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74320" y="4754880"/>
            <a:ext cx="116128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93776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937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234440" y="484632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显式 ΔTGO 通信信道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34440" y="52120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引入预计到达时间差信号，架设时空同步桥梁，一击突破 AND-gate 终极天花板。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274320" y="6172200"/>
            <a:ext cx="11612880" cy="27432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感谢聆听 · 欢迎提问与讨论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274320" y="6766560"/>
            <a:ext cx="1161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sean@zju.edu.cn  ·  github.com/NishimiyaXSean/jsbsim-marl-formation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45720" cy="4114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09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附录: 网络健康诊断 (Q&amp;A 防守页)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1161288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960120"/>
            <a:ext cx="54864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 Variance: 跨越 0.2 混沌区后单调爬升至 0.85+——Critic 彻底拟合 600 步超长时序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0040" y="1399032"/>
            <a:ext cx="54864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399032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Entropy: 2.71 平滑下移至 1.77 中心平台。无崩塌无发散——系统处于极佳淬火期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" y="1837944"/>
            <a:ext cx="5486400" cy="402336"/>
          </a:xfrm>
          <a:prstGeom prst="roundRect">
            <a:avLst>
              <a:gd name="adj" fmla="val 11364"/>
            </a:avLst>
          </a:prstGeom>
          <a:solidFill>
            <a:srgbClr val="F2F7F9"/>
          </a:solidFill>
          <a:ln/>
          <a:effectLst>
            <a:outerShdw sx="100000" sy="100000" kx="0" ky="0" algn="bl" rotWithShape="0" blurRad="25400" dist="12700" dir="16200000">
              <a:srgbClr val="C0D0D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1837944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结论: 所有成果的第一底层算法健康铁证。无作弊、无套利、无崩溃</a:t>
            </a:r>
            <a:endParaRPr lang="en-US" sz="1800" dirty="0"/>
          </a:p>
        </p:txBody>
      </p:sp>
      <p:pic>
        <p:nvPicPr>
          <p:cNvPr id="12" name="Image 0" descr="results/viz/paper_charts/chart5_health_metr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005840"/>
            <a:ext cx="594360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基于MARL的协同编队飞行决策</dc:title>
  <dc:subject>PptxGenJS Presentation</dc:subject>
  <dc:creator>Sean Nishimiya</dc:creator>
  <cp:lastModifiedBy>Sean Nishimiya</cp:lastModifiedBy>
  <cp:revision>1</cp:revision>
  <dcterms:created xsi:type="dcterms:W3CDTF">2026-07-10T04:27:51Z</dcterms:created>
  <dcterms:modified xsi:type="dcterms:W3CDTF">2026-07-10T04:27:51Z</dcterms:modified>
</cp:coreProperties>
</file>