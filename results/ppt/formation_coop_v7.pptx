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各位专家好。本课题聚焦于高动态、强非线性环境下的多智能体非对称协同追击。底层基于 60Hz PID 与前馈补偿锁死航向/高度/航速，注入 1/V^2 动态配平与过载迎角保护器，构建 9 个 BFM 动作图元，根治海豚跳套利，确保高层 RL 聚焦纯粹战术协同。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IPPO 导致 -7,536 内卷死锁。连续高斯噪声使策略在 600 步长时序中严重抖动。AND-gate 下空间完美但时间零分——长机 329m 突入截断，僚机 1,974m 外绝望。时空脱节死锁。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推翻了扁平拼接，开发 Token-Based 多头自注意力。参数共享下同权重不同 Mate Token 引爆对称破缺。集中式评论员提供全局价值引导。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面对连续高斯噪声的同步失效，实施动作空间降维打击。重构为 MultiDiscrete([5,3])。熵上限锁死在 2.71。离散化释放 Action Masking 红利。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50 轮色块均匀平铺。250 轮后僚机以 80% 概率输出 Fast，长机自发 Slow 减速。80m/s 速度差强行合拢时间缺口。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面对严格 AND-gate 的价值真空区，实施动态距离包线退火。探索初期 2000m 门槛即引爆 +5,000 奖赏。DAC 将基线拉升 5,000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100 轮贡献完全由 Progress 和压低 DAP 占据。150 轮退火收紧后协同合围奖励面积单调扩张。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由浅入深 7 个对照组。IPPO 崩溃→OR-gate 冲破天花板 33%→AND 揭示连续局限→离散 Self-Attn 零知识转正。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冷启动 Self-Attn 在 320 轮内轰出 3 次 Eval 大转正，最高 +2,376。协同引导已成统计本能。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7,858 步角色切片。双机 Self→Mate 全时锁在 0.44-0.45。持续性隐式协同——MARL 涌现最高级形态。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DAC 实现 5,000 分暴涨和 3 次转正，但 320 轮仍有回落。Vanilla CTDE 缺乏 ΔTGO 路由。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参数共享+语义 Token 具备零成本 N 机外推。引入匈牙利算法剪枝火力分配，深化 SMDP 分层重构，通过 Self-Play 在对抗中螺旋升级。感谢各位专家，请多指教。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20116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基于六自由度气动动力学的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多智能体协同追击决策涌现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+ Discrete Primitives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JSBSim 6-DOF F-16 编队追猎中超越集中式 PPO 上限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·  Zhejiang University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核心卡点: 协同的死亡三角与时空脱节死锁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3794760" cy="5715000"/>
          </a:xfrm>
          <a:prstGeom prst="roundRect">
            <a:avLst>
              <a:gd name="adj" fmla="val 120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686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非平稳性死锁 (Non-Stationarity)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520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致命缺陷: 独立 IPPO 缺乏隐式表征与全局价值引导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具体表现: 网络梯度充斥互干扰噪声，训练坠入 -7,536 死锁平台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 同质 Agent 缺乏显式通信，对称性内卷无法自发打破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5303520"/>
            <a:ext cx="3520440" cy="594360"/>
          </a:xfrm>
          <a:prstGeom prst="roundRect">
            <a:avLst>
              <a:gd name="adj" fmla="val 7692"/>
            </a:avLst>
          </a:prstGeom>
          <a:solidFill>
            <a:srgbClr val="2CC44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3035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参数共享 MAPPO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777240"/>
            <a:ext cx="3794760" cy="5715000"/>
          </a:xfrm>
          <a:prstGeom prst="roundRect">
            <a:avLst>
              <a:gd name="adj" fmla="val 120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8686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探索高斯噪声耗散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1325880"/>
            <a:ext cx="3520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致命缺陷: 连续 Box(2) 依赖高斯方差盲目探索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具体表现: 600 步长时序中动作高频抖动 (Chattering)，无法输出坚决战术决断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 探索在 2D 流形上扩散，熵失控至 4.15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5303520"/>
            <a:ext cx="3520440" cy="594360"/>
          </a:xfrm>
          <a:prstGeom prst="roundRect">
            <a:avLst>
              <a:gd name="adj" fmla="val 7692"/>
            </a:avLst>
          </a:prstGeom>
          <a:solidFill>
            <a:srgbClr val="2CC44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53035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离散动作 (熵上限 2.71)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777240"/>
            <a:ext cx="3794760" cy="5715000"/>
          </a:xfrm>
          <a:prstGeom prst="roundRect">
            <a:avLst>
              <a:gd name="adj" fmla="val 120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8686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时空相位脱节 (AND-gate)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1325880"/>
            <a:ext cx="3520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致命缺陷: 空间合格 (34.8°) 但时间零分 (同步率 0.0%)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具体表现: 长机 329m 突入截断，僚机 1,974m 外绝望。交战步数腰斩至 165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 长机单刀引发环境截断，僚机时间线在半路被无情斩断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5303520"/>
            <a:ext cx="3520440" cy="594360"/>
          </a:xfrm>
          <a:prstGeom prst="roundRect">
            <a:avLst>
              <a:gd name="adj" fmla="val 7692"/>
            </a:avLst>
          </a:prstGeom>
          <a:solidFill>
            <a:srgbClr val="2CC44D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53035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退火 + 配速惩罚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A: 参数共享 Self-Attention CTDE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594360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77240"/>
            <a:ext cx="557784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[特征解耦] 打破扁平拼接: 33-dim 观测解耦为 Self(13) / Target(14) / Mate(6) 三个独立语义 Token，通过线性层映射到 d=128 高阶表征空间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2265426"/>
            <a:ext cx="594360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65426"/>
            <a:ext cx="557784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[注意力路由] 4-Head MHA (d=128): Q-K-V 交互强迫智能体在表征层内部自发建立 Self-Mate-Target 三维相对运动学关联与拓扑约束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" y="3753612"/>
            <a:ext cx="594360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753612"/>
            <a:ext cx="557784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[对称破缺] 参数共享 + 位置无关性 (Permutation Invariance): 同权重不同 Mate Token → 自注意力层自发引爆异质化角色分化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" y="5241798"/>
            <a:ext cx="594360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5241798"/>
            <a:ext cx="557784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[价值引导] Centralized Critic: 评论员接收两机联合全局运动学状态，为分布式执行提供无偏低方差全局价值信号</a:t>
            </a:r>
            <a:endParaRPr lang="en-US" sz="1600" dirty="0"/>
          </a:p>
        </p:txBody>
      </p:sp>
      <p:pic>
        <p:nvPicPr>
          <p:cNvPr id="14" name="Image 0" descr="results/viz/fig_self_attention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777240"/>
            <a:ext cx="5303520" cy="5029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83680" y="56692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570585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583680" y="6172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Self-&gt;Mate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56692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03920" y="570585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503920" y="6172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424160" y="56692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424160" y="570585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10424160" y="6172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Mate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B: 离散战术图元 + Action Masking 上游剪枝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772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[维度压缩] 15 种宏观战术图元: 5 档航向率 (急左/缓左/直飞/缓右/急右) × 3 档速度基线 (慢速180 / 巡航250 / 加力320 m/s)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" y="2295144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95144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[熵约束] 探索熵上限数学锁死在 ln(5)+ln(3)≈2.71 ——硬性约束，从根本上消除浮点边缘高频颤噪 Runaway 现象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8600" y="3813048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813048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[安全剪枝] Action Masking 上游拦截: 失速(&lt;130m/s)→禁慢速+急转; 近地(&lt;200m)→禁急转; 超速→禁加力。上游 Logits 直接抹为 -inf，为长时序信用分配清除致死混沌梯度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(5档)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0" y="1115568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111556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111556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急左转 -15°/s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1554480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55448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缓左转 -5°/s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0" y="1993392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199339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199339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直飞 0°/s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2432304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2432304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26480" y="243230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缓右转 +5°/s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0" y="2871216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60720" y="287121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287121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急右转 +15°/s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(3档)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0" y="3822192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382219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26480" y="382219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 180 m/s (挂杆等待)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0" y="4261104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4261104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26480" y="426110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巡航 250 m/s (均衡追击)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669280" y="4700016"/>
            <a:ext cx="5852160" cy="402336"/>
          </a:xfrm>
          <a:prstGeom prst="roundRect">
            <a:avLst>
              <a:gd name="adj" fmla="val 11364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470001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26480" y="470001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 320 m/s (加力冲刺)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动作图元时序演变: 从无序探索到确定性战术固化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1_actio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777240"/>
            <a:ext cx="8046720" cy="5852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777240"/>
            <a:ext cx="347472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7772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[探索期] 早期 (0-50轮): 色块均匀平铺，智能体处于全局 Categorical 盲目探索期，战术行为充斥着频繁换向与左右拉扯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503920" y="2295144"/>
            <a:ext cx="347472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0" y="2295144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[收敛期] 后期 (250-320轮): 僚机 Fast (260m/s) 概率爆发跃升并单调锁死在 78%+；长机突入内圈后自发将大面积概率分配给 Slow (180m/s) 蓄势等待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503920" y="3813048"/>
            <a:ext cx="347472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0" y="3813048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[战术涌现] 结论: 双机自发通过 80m/s 宏观速度差强行收拢几何弧长差——在离散动作空间中涌现出闭环高级协同形态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核心机制创新: 动态包线退火 (DAC) + 非对称惩罚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658368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77240"/>
            <a:ext cx="621792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[惩罚机制] 距离不对称惩罚 (DAP): |d0-d1|&gt;500m → 团队受罚，全时动态监控双机瞬时间距，强行摧毁分布式早期盲目搭便车死锁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" y="2265426"/>
            <a:ext cx="658368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65426"/>
            <a:ext cx="621792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[课程设计] 动态退火 (DAC): Thresh = max(800, 2000−decay×iter)。前 100 轮 2000m 即引爆 +5,000 成功奖赏，漏斗线性收窄至 800m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8600" y="3753612"/>
            <a:ext cx="658368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753612"/>
            <a:ext cx="621792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[同步约束] 配速惩罚: Striker&lt;1200m 且 Interceptor&gt;1500m → 团队受罚，强制长机等待僚机同步，防止独狼贪婪冲锋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28600" y="5241798"/>
            <a:ext cx="6583680" cy="1433322"/>
          </a:xfrm>
          <a:prstGeom prst="roundRect">
            <a:avLst>
              <a:gd name="adj" fmla="val 3190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5241798"/>
            <a:ext cx="6217920" cy="1433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[综合效果] DAC 联合机制将 AND-gate 基线从 −5,909 暴力拉升 5,000 分至 −1,171 突破性高度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32320" y="777240"/>
            <a:ext cx="2377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8138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+5,000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3232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拉升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严格)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920" y="777240"/>
            <a:ext cx="2377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46920" y="8138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-5,909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64692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重构前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2194560"/>
            <a:ext cx="2377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22311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-1,171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后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46920" y="2194560"/>
            <a:ext cx="2377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46920" y="22311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64692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(极限)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奖励成分解耦: 课程学习的梯度接力实证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3_reward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777240"/>
            <a:ext cx="7772400" cy="5852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77724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7772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1] 前 100 轮: Progress+ATA 主导贡献，DAP 惩罚面积被压低。智能体高频吸收空间收拢稠密梯度，未发生 Reward Hacking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0" y="2295144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0" y="2295144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2] 150 轮后 (退火收紧): Progress 平滑趋于饱和，协同合围成功奖励亮色面积开始呈统计显著性单调扩张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3813048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3813048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[机理] 完美 Handover: 梯度从空间引导平滑接力到协同合围——课程学习搭梯子跨越价值真空区的演进机理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全版本消融大盘点: 六代模型完整进化证据链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868680"/>
            <a:ext cx="115214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8686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868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8686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动作空间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86868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86868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轮数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8686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最佳Eval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86868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8686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353312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135331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(非协同)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3533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3533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5331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135331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135331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-8,053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135331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78240" y="135331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IPPO内卷死锁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2057400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2880" y="20574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20574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05740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0574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205740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0574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205740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20574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超SB3天花板33%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2761488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82880" y="27614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(AND退火)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276148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276148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7614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761488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276148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-1,171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2761488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78240" y="276148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DAC拉升5000分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2880" y="3465576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82880" y="34655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11680" y="346557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83280" y="346557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46557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3465576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66560" y="3465576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-4,542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0" y="3465576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78240" y="346557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纯MLP零BC—基线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82880" y="4169664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82880" y="41696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(Attn)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011680" y="41696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83280" y="416966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0" y="416966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35040" y="4169664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66560" y="416966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46720" y="4169664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778240" y="416966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Self-Attn冷启转正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82880" y="4873752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82880" y="48737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487375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383280" y="48737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0" y="487375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离散BC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035040" y="48737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766560" y="48737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-1,135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46720" y="48737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778240" y="487375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BC稳定无额外峰值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82880" y="5577840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 w="6350">
            <a:solidFill>
              <a:srgbClr val="E8F0F4"/>
            </a:solidFill>
            <a:prstDash val="solid"/>
          </a:ln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82880" y="5577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ext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011680" y="557784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383280" y="55778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29200" y="55778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035040" y="557784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766560" y="55778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046720" y="557784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778240" y="55778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零知识涌现—结构定上限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82880" y="632764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完整进化链: IPPO崩溃 → 连续拉升 → AND脱节 → 离散Self-Attn零知识转正。Inductive Bias决定上限, BC仅影响收敛速率。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核心成果 1: 离散自注意力下的零知识战术涌现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530352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772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[零知识] 打破死记硬背质疑: 绝对冷启动，零 BC 引导。320 轮内 3 次 Eval 大转正 (+1,345, +2,376, +4.0)，最高峰 +2,376 历史性高位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2295144"/>
            <a:ext cx="530352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95144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[校准] 3D 轨迹三维校准: X:Y:Z=1:1:0.1 精确轴比修正。长机 200m 锁敌，高度包线 ±10m 平滑固化，绝无任何重力套利嫌疑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" y="3813048"/>
            <a:ext cx="530352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81304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[统计] 2D KDE 统计铁证: 50 集 15,000+ 帧全量评估。红方打点在敌机尾部 35°-60° 黄金包围圈内凝聚为高密深红热区——协同引导已成全盘大样本统计本能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" y="539496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" y="543153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" y="5897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最高Eval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539496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543153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60320" y="5897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正向转正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539496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543153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92040" y="5897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539496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543153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5897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专家样本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</a:t>
            </a:r>
            <a:endParaRPr lang="en-US" sz="1100" dirty="0"/>
          </a:p>
        </p:txBody>
      </p:sp>
      <p:pic>
        <p:nvPicPr>
          <p:cNvPr id="24" name="Image 0" descr="results/viz/paper_charts/chart2_spatial_k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777240"/>
            <a:ext cx="3017520" cy="3017520"/>
          </a:xfrm>
          <a:prstGeom prst="rect">
            <a:avLst/>
          </a:prstGeom>
        </p:spPr>
      </p:pic>
      <p:pic>
        <p:nvPicPr>
          <p:cNvPr id="25" name="Image 1" descr="results/viz/paper_charts/chart5_health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777240"/>
            <a:ext cx="27432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核心成果 2: 自发性对称破缺与持续性隐式协同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54864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77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[效应量] Cohen d = -0.53 强效应量: 7,858 步瞬时几何角色切片。Interceptor MHA Self→Target 以极高统计显著性超越 Striker 31%，展现果断的高速弥补距离劣势角色偏好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2295144"/>
            <a:ext cx="54864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95144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[范式] 持续性隐式协同 (推翻二元切换假设): 两机 MHA Self→Mate 全时锁定在 0.44-0.45 极高一致高位。骨子里维持全时高强度团队默契，仅基于瞬时物理拓扑微调目标专注度——高级隐式协同范式</a:t>
            </a:r>
            <a:endParaRPr lang="en-US" sz="1800" dirty="0"/>
          </a:p>
        </p:txBody>
      </p:sp>
      <p:pic>
        <p:nvPicPr>
          <p:cNvPr id="10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777240"/>
            <a:ext cx="56692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信息论边界: CTDE 熵墙与 Failure Case 深度解剖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5303520" cy="694944"/>
          </a:xfrm>
          <a:prstGeom prst="roundRect">
            <a:avLst>
              <a:gd name="adj" fmla="val 6579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04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8046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5303520" cy="694944"/>
          </a:xfrm>
          <a:prstGeom prst="roundRect">
            <a:avLst>
              <a:gd name="adj" fmla="val 6579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554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单机入线率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554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193852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可以接近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04288"/>
            <a:ext cx="5303520" cy="694944"/>
          </a:xfrm>
          <a:prstGeom prst="roundRect">
            <a:avLst>
              <a:gd name="adj" fmla="val 6579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3042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夹击角 &gt;30°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26883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空间合格!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5303520" cy="694944"/>
          </a:xfrm>
          <a:prstGeom prst="roundRect">
            <a:avLst>
              <a:gd name="adj" fmla="val 6579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540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中位距离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0540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" y="343814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逼近出色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803904"/>
            <a:ext cx="5303520" cy="694944"/>
          </a:xfrm>
          <a:prstGeom prst="roundRect">
            <a:avLst>
              <a:gd name="adj" fmla="val 6579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803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8039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" y="41879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无法缩小差距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4846320"/>
            <a:ext cx="5943600" cy="-1042416"/>
          </a:xfrm>
          <a:prstGeom prst="roundRect">
            <a:avLst>
              <a:gd name="adj" fmla="val -4386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4846320"/>
            <a:ext cx="5577840" cy="-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[诊断] 边缘悬崖效应: 320 轮后期策略熵稳定在 1.77，但离散 AND-gate 奖励曲面演变为窄深峡谷，Logits 跨格点概率抖动跌至 -6,653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0" y="3858768"/>
            <a:ext cx="5943600" cy="-1042416"/>
          </a:xfrm>
          <a:prstGeom prst="roundRect">
            <a:avLst>
              <a:gd name="adj" fmla="val -4386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3858768"/>
            <a:ext cx="5577840" cy="-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[理论] Vanilla CTDE 天花板: 33-dim 局部视界仅含瞬时运动学 Token，缺乏非局部 ΔTGO (预计到达时间差) 表达。僚机算不准长机踩进 800m 的秒级相位戳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871216"/>
            <a:ext cx="5943600" cy="-1042416"/>
          </a:xfrm>
          <a:prstGeom prst="roundRect">
            <a:avLst>
              <a:gd name="adj" fmla="val -4386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2871216"/>
            <a:ext cx="5577840" cy="-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[边界] 诚实划定: 扁平无显式通信的分布式控制在应对严格断崖式 AND 同步任务时的理论边界。为层级控制+显式通信提供坚实科学 Imperative</a:t>
            </a:r>
            <a:endParaRPr lang="en-US" sz="1300" dirty="0"/>
          </a:p>
        </p:txBody>
      </p:sp>
      <p:pic>
        <p:nvPicPr>
          <p:cNvPr id="32" name="Image 0" descr="results/viz/paper_charts/chart4_terminatio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841248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未来进军路线: 层级 SMDP + 匈牙利指派 + Self-Play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41248"/>
            <a:ext cx="11704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69848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698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大规模外推 + 匈牙利算法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3533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参数共享+语义 Token 天然具备零成本 N 机位置外推特性。转向 3v1/4v2 场景，挂载匈牙利算法剪枝火力-目标匹配组合爆炸。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11704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441448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41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微分层 SMDP 重构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24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上层 Policy 降至 2Hz 专注宏观 BFM 意图坚决输出；下层 Action Masking 维持 60Hz 物理安全锁死。桥接战略规划与战术执行。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3584448"/>
            <a:ext cx="11704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813048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813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+ League Training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0965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群体课程自博弈 (PCSP) + 联赛训练，彻底拆除固定脚本目标，红蓝双方在对抗对顶中实现最高阶空战战术螺旋进化。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600" y="4956048"/>
            <a:ext cx="11704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5184648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5184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 ΔTGO 通信信道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54681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在全局状态引入预计到达时间差信号，架设时空同步桥梁，一击突破 AND-gate 终极天花板。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28600" y="6464808"/>
            <a:ext cx="1170432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6601968"/>
            <a:ext cx="1170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 · 欢迎提问与讨论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28600" y="705916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·  github.com/NishimiyaXSean/jsbsim-marl-formation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附录: Critic 解释方差与网络健康诊断 (Q&amp;A 防守页)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11704320" cy="9144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77240"/>
            <a:ext cx="54864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77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[价值拟合] Explained Variance: 跨越 0.2 初始混沌区后以极高鲁棒性单调爬升，最终稳定在 0.85+ 高位平台——集中式评论员已彻底拟合 600 步超长时序的联合状态价值边界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" y="2295144"/>
            <a:ext cx="54864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95144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[策略健康] Policy Entropy: 由理论格点上限 2.71 极其平滑单调地下移至 1.77 中心平台。无崩塌至 0.04 导致的策略僵死，也无发散至 2.5+ 的无序随机——系统处于极佳淬火期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8600" y="3813048"/>
            <a:ext cx="5486400" cy="1463040"/>
          </a:xfrm>
          <a:prstGeom prst="roundRect">
            <a:avLst>
              <a:gd name="adj" fmla="val 3125"/>
            </a:avLst>
          </a:prstGeom>
          <a:solidFill>
            <a:srgbClr val="F2F7F9"/>
          </a:solidFill>
          <a:ln/>
          <a:effectLst>
            <a:outerShdw sx="100000" sy="100000" kx="0" ky="0" algn="bl" rotWithShape="0" blurRad="25400" dist="12700" dir="16200000">
              <a:srgbClr val="C0D0D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813048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[铁证] 结论: 所有前述成果的第一底层算法健康铁证。梯度无作弊、无套利、无崩溃</a:t>
            </a:r>
            <a:endParaRPr lang="en-US" sz="1700" dirty="0"/>
          </a:p>
        </p:txBody>
      </p:sp>
      <p:pic>
        <p:nvPicPr>
          <p:cNvPr id="12" name="Image 0" descr="results/viz/paper_charts/chart5_health_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777240"/>
            <a:ext cx="5943600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基于MARL的协同编队飞行决策</dc:title>
  <dc:subject>PptxGenJS Presentation</dc:subject>
  <dc:creator>Sean Nishimiya</dc:creator>
  <cp:lastModifiedBy>Sean Nishimiya</cp:lastModifiedBy>
  <cp:revision>1</cp:revision>
  <dcterms:created xsi:type="dcterms:W3CDTF">2026-07-10T04:47:41Z</dcterms:created>
  <dcterms:modified xsi:type="dcterms:W3CDTF">2026-07-10T04:47:41Z</dcterms:modified>
</cp:coreProperties>
</file>