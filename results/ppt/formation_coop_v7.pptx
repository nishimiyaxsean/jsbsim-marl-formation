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各位专家好。本课题聚焦于高动态、强非线性环境下的多智能体非对称协同追击。底层基于 60Hz PID 与前馈补偿锁死航向/高度/航速，注入 1/V^2 动态配平与过载迎角保护器，构建 9 个 BFM 动作图元，根治海豚跳套利，确保高层 RL 聚焦纯粹战术协同。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IPPO 导致 -7,536 内卷死锁。连续高斯噪声使策略在 600 步长时序中严重抖动。AND-gate 下空间完美但时间零分——长机 329m 突入截断，僚机 1,974m 外绝望。时空脱节死锁。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推翻了扁平拼接，开发 Token-Based 多头自注意力。参数共享下同权重不同 Mate Token 引爆对称破缺。集中式评论员提供全局价值引导。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面对连续高斯噪声的同步失效，实施动作空间降维打击。重构为 MultiDiscrete([5,3])。熵上限锁死在 2.71。离散化释放 Action Masking 红利。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 50 轮色块均匀平铺。250 轮后僚机以 80% 概率输出 Fast，长机自发 Slow 减速。80m/s 速度差强行合拢时间缺口。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面对严格 AND-gate 的价值真空区，实施动态距离包线退火。探索初期 2000m 门槛即引爆 +5,000 奖赏。DAC 将基线拉升 5,000 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 100 轮贡献完全由 Progress 和压低 DAP 占据。150 轮退火收紧后协同合围奖励面积单调扩张。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由浅入深 7 个对照组。IPPO 崩溃→OR-gate 冲破天花板 33%→AND 揭示连续局限→离散 Self-Attn 零知识转正。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冷启动 Self-Attn 在 320 轮内轰出 3 次 Eval 大转正，最高 +2,376。协同引导已成统计本能。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7,858 步角色切片。双机 Self→Mate 全时锁在 0.44-0.45。持续性隐式协同——MARL 涌现最高级形态。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DAC 实现 5,000 分暴涨和 3 次转正，但 320 轮仍有回落。Vanilla CTDE 缺乏 ΔTGO 路由。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参数共享+语义 Token 具备零成本 N 机外推。引入匈牙利算法剪枝火力分配，深化 SMDP 分层重构，通过 Self-Play 在对抗中螺旋升级。感谢各位专家，请多指教。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463040"/>
            <a:ext cx="2011680" cy="54864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基于六自由度气动动力学的</a:t>
            </a:r>
            <a:endParaRPr lang="en-US" sz="4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多智能体协同追击决策涌现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Token-Based CTDE with Self-Attention + Discrete Primitives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JSBSim 6-DOF F-16 编队追猎中超越集中式 PPO 上限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1206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Sean Nishimiya  ·  Zhejiang University  ·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4572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411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核心卡点: 协同的死亡三角与时空脱节死锁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566928"/>
            <a:ext cx="11612880" cy="9144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777240"/>
            <a:ext cx="3749040" cy="5669280"/>
          </a:xfrm>
          <a:prstGeom prst="roundRect">
            <a:avLst>
              <a:gd name="adj" fmla="val 1220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86868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A. 非平稳性死锁 (Non-Stationarity)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11480" y="1371600"/>
            <a:ext cx="3474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独立 IPPO 缺乏隐式表征与全局价值引导，网络梯度充斥互干扰噪声，训练坠入 -7,536 死锁平台。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11480" y="5303520"/>
            <a:ext cx="3474720" cy="594360"/>
          </a:xfrm>
          <a:prstGeom prst="roundRect">
            <a:avLst>
              <a:gd name="adj" fmla="val 7692"/>
            </a:avLst>
          </a:prstGeom>
          <a:solidFill>
            <a:srgbClr val="2CC44D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530352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参数共享 MAPPO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06240" y="777240"/>
            <a:ext cx="3749040" cy="5669280"/>
          </a:xfrm>
          <a:prstGeom prst="roundRect">
            <a:avLst>
              <a:gd name="adj" fmla="val 1220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343400" y="86868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B. 探索高斯噪声耗散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343400" y="1371600"/>
            <a:ext cx="3474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连续 Box(2) 依赖高斯方差盲目探索，600 步长时序中动作高频抖动 (Chattering)，无法输出坚决战术决断。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343400" y="5303520"/>
            <a:ext cx="3474720" cy="594360"/>
          </a:xfrm>
          <a:prstGeom prst="roundRect">
            <a:avLst>
              <a:gd name="adj" fmla="val 7692"/>
            </a:avLst>
          </a:prstGeom>
          <a:solidFill>
            <a:srgbClr val="2CC44D"/>
          </a:solidFill>
          <a:ln/>
        </p:spPr>
      </p:sp>
      <p:sp>
        <p:nvSpPr>
          <p:cNvPr id="15" name="Text 13"/>
          <p:cNvSpPr/>
          <p:nvPr/>
        </p:nvSpPr>
        <p:spPr>
          <a:xfrm>
            <a:off x="4434840" y="530352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离散动作 (熵上限 2.71)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38160" y="777240"/>
            <a:ext cx="3749040" cy="5669280"/>
          </a:xfrm>
          <a:prstGeom prst="roundRect">
            <a:avLst>
              <a:gd name="adj" fmla="val 1220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75320" y="86868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C. 时空相位脱节 (AND-gate)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75320" y="1371600"/>
            <a:ext cx="3474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空间 34.8° 黄金包抄——合格。时间同步率 0.0%——长机 329m 突入截断，僚机 1,974m 外绝望。交战步数腰斩至 165。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275320" y="5303520"/>
            <a:ext cx="3474720" cy="594360"/>
          </a:xfrm>
          <a:prstGeom prst="roundRect">
            <a:avLst>
              <a:gd name="adj" fmla="val 7692"/>
            </a:avLst>
          </a:prstGeom>
          <a:solidFill>
            <a:srgbClr val="2CC44D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530352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DAC 退火 + 配速惩罚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4572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411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架构重构 A: 参数共享 Self-Attention CTDE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566928"/>
            <a:ext cx="11612880" cy="9144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777240"/>
            <a:ext cx="5943600" cy="1371600"/>
          </a:xfrm>
          <a:prstGeom prst="roundRect">
            <a:avLst>
              <a:gd name="adj" fmla="val 333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38912" y="777240"/>
            <a:ext cx="561441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打破扁平拼接: 33-dim 解耦为 Self(13) / Target(14) / Mate(6) 三个独立语义 Token，通过线性层映射到 d=128 高阶表征空间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74320" y="2221992"/>
            <a:ext cx="5943600" cy="1371600"/>
          </a:xfrm>
          <a:prstGeom prst="roundRect">
            <a:avLst>
              <a:gd name="adj" fmla="val 333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38912" y="2221992"/>
            <a:ext cx="561441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4-Head MHA (d=128) → Learned Attention Pooling → MLP [256,256] → 动作输出。Q-K-V 交互建立 Self-Mate-Target 三维运动学关联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274320" y="3666744"/>
            <a:ext cx="5943600" cy="1371600"/>
          </a:xfrm>
          <a:prstGeom prst="roundRect">
            <a:avLst>
              <a:gd name="adj" fmla="val 333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38912" y="3666744"/>
            <a:ext cx="561441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参数共享 + 位置无关性 (Permutation Invariance): 同权重不同 Mate Token → 自注意力层自发引爆角色分化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274320" y="5111496"/>
            <a:ext cx="5943600" cy="1371600"/>
          </a:xfrm>
          <a:prstGeom prst="roundRect">
            <a:avLst>
              <a:gd name="adj" fmla="val 333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38912" y="5111496"/>
            <a:ext cx="561441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Critic: 接收两机联合全局运动学状态，为分布式执行提供无偏低方差全局价值引导信号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583680" y="777240"/>
            <a:ext cx="173736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83680" y="81381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0.450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583680" y="12801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Striker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Self→Mate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503920" y="777240"/>
            <a:ext cx="173736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503920" y="81381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-0.53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503920" y="12801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Cohen d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(large)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424160" y="777240"/>
            <a:ext cx="173736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424160" y="81381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0.44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10424160" y="12801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Mate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200" dirty="0"/>
          </a:p>
        </p:txBody>
      </p:sp>
      <p:pic>
        <p:nvPicPr>
          <p:cNvPr id="23" name="Image 0" descr="results/viz/fig3_role_attention_matri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0" y="2286000"/>
            <a:ext cx="50292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4572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411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架构重构 B: 离散战术图元 + Action Masking 上游剪枝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566928"/>
            <a:ext cx="11612880" cy="9144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777240"/>
            <a:ext cx="5029200" cy="1371600"/>
          </a:xfrm>
          <a:prstGeom prst="roundRect">
            <a:avLst>
              <a:gd name="adj" fmla="val 333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38912" y="777240"/>
            <a:ext cx="470001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种宏观战术图元: 5 档航向率 (急左/缓左/直飞/缓右/急右) × 3 档速度基线 (慢速180m/s / 巡航250m/s / 加力320m/s)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74320" y="2221992"/>
            <a:ext cx="5029200" cy="1371600"/>
          </a:xfrm>
          <a:prstGeom prst="roundRect">
            <a:avLst>
              <a:gd name="adj" fmla="val 333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38912" y="2221992"/>
            <a:ext cx="470001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探索熵上限数学锁死在 ln(5)+ln(3)≈2.71 —— 硬性约束，从根本上消除浮点边缘高频颤噪 Runaway 现象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4320" y="3666744"/>
            <a:ext cx="5029200" cy="1371600"/>
          </a:xfrm>
          <a:prstGeom prst="roundRect">
            <a:avLst>
              <a:gd name="adj" fmla="val 333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38912" y="3666744"/>
            <a:ext cx="470001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Masking 上游剪枝: 失速(&lt;130m/s)→禁慢速+急转; 近地(&lt;200m)→禁急转; 超速→禁加力。上游 Logits 直接抹为 -inf，为长时序信用分配清除致死混沌梯度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760720" y="777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TURN (5档)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760720" y="1143000"/>
            <a:ext cx="576072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852160" y="1143000"/>
            <a:ext cx="274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17920" y="1143000"/>
            <a:ext cx="5120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急左转 -15°/s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760720" y="1581912"/>
            <a:ext cx="576072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52160" y="1581912"/>
            <a:ext cx="274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17920" y="1581912"/>
            <a:ext cx="5120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缓左转 -5°/s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760720" y="2020824"/>
            <a:ext cx="576072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52160" y="2020824"/>
            <a:ext cx="274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17920" y="2020824"/>
            <a:ext cx="5120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直飞 0°/s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760720" y="2459736"/>
            <a:ext cx="576072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852160" y="2459736"/>
            <a:ext cx="274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17920" y="2459736"/>
            <a:ext cx="5120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缓右转 +5°/s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760720" y="2898648"/>
            <a:ext cx="576072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852160" y="2898648"/>
            <a:ext cx="274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217920" y="2898648"/>
            <a:ext cx="5120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急右转 +15°/s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760720" y="3520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(3档)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760720" y="3867912"/>
            <a:ext cx="576072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852160" y="3867912"/>
            <a:ext cx="274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217920" y="3867912"/>
            <a:ext cx="5120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慢速 180 m/s (挂杆等待)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760720" y="4306824"/>
            <a:ext cx="576072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852160" y="4306824"/>
            <a:ext cx="274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217920" y="4306824"/>
            <a:ext cx="5120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巡航 250 m/s (均衡追击)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760720" y="4745736"/>
            <a:ext cx="576072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852160" y="4745736"/>
            <a:ext cx="274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217920" y="4745736"/>
            <a:ext cx="5120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快速 320 m/s (加力冲刺)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4572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411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动作图元时序演变: 从无序探索到确定性战术固化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566928"/>
            <a:ext cx="11612880" cy="9144"/>
          </a:xfrm>
          <a:prstGeom prst="rect">
            <a:avLst/>
          </a:prstGeom>
          <a:solidFill>
            <a:srgbClr val="E8F0F4"/>
          </a:solidFill>
          <a:ln/>
        </p:spPr>
      </p:sp>
      <p:pic>
        <p:nvPicPr>
          <p:cNvPr id="6" name="Image 0" descr="results/viz/paper_charts/chart1_action_distrib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" y="822960"/>
            <a:ext cx="8046720" cy="5760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03920" y="82296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68512" y="822960"/>
            <a:ext cx="314553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早期 (0-50轮): 色块均匀平铺，Categorical 盲目探索期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503920" y="2267712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68512" y="2267712"/>
            <a:ext cx="314553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后期 (250-320轮): 僚机 Fast (260m/s) 概率锁定 78%+；长机自发大面积 Slow (180m/s)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503920" y="3712464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68512" y="3712464"/>
            <a:ext cx="314553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结论: 双机自发通过 80m/s 宏观速度差收拢弧长差——闭环高级协同涌现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4572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411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核心机制创新: 动态包线退火 (DAC) + 非对称惩罚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566928"/>
            <a:ext cx="11612880" cy="9144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777240"/>
            <a:ext cx="6583680" cy="1371600"/>
          </a:xfrm>
          <a:prstGeom prst="roundRect">
            <a:avLst>
              <a:gd name="adj" fmla="val 333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38912" y="777240"/>
            <a:ext cx="6254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距离不对称惩罚 (DAP): |d0-d1|&gt;500m → 团队受罚，全时动态监控双机瞬时间距，强行摧毁分布式早期盲目搭便车死锁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74320" y="2221992"/>
            <a:ext cx="6583680" cy="1371600"/>
          </a:xfrm>
          <a:prstGeom prst="roundRect">
            <a:avLst>
              <a:gd name="adj" fmla="val 333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38912" y="2221992"/>
            <a:ext cx="6254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动态退火 (DAC): Thresh = max(800, 2000−decay×iter)。前 100 轮 2000m 即引爆 +5,000 成功奖赏，漏斗线性收窄至 800m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274320" y="3666744"/>
            <a:ext cx="6583680" cy="1371600"/>
          </a:xfrm>
          <a:prstGeom prst="roundRect">
            <a:avLst>
              <a:gd name="adj" fmla="val 333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38912" y="3666744"/>
            <a:ext cx="6254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配速惩罚: Striker&lt;1200m 且 Interceptor&gt;1500m → 团队受罚，强制长机等待僚机同步，防止独狼贪婪冲锋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274320" y="5111496"/>
            <a:ext cx="6583680" cy="1371600"/>
          </a:xfrm>
          <a:prstGeom prst="roundRect">
            <a:avLst>
              <a:gd name="adj" fmla="val 333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38912" y="5111496"/>
            <a:ext cx="6254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综合效果: AND-gate 基线从 −5,909 暴力拉升 5,000 分至 −1,171 突破性高度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315200" y="777240"/>
            <a:ext cx="2377440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0" y="81381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+5,000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15200" y="1280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 拉升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(vs 严格)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829800" y="777240"/>
            <a:ext cx="2377440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829800" y="81381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-5,909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829800" y="1280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重构前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基线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0" y="2194560"/>
            <a:ext cx="2377440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15200" y="223113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-1,171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7315200" y="26974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 后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最优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829800" y="2194560"/>
            <a:ext cx="2377440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829800" y="223113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1,974m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9829800" y="26974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中位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(极限)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4572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411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奖励成分解耦: 课程学习的梯度接力实证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566928"/>
            <a:ext cx="11612880" cy="9144"/>
          </a:xfrm>
          <a:prstGeom prst="rect">
            <a:avLst/>
          </a:prstGeom>
          <a:solidFill>
            <a:srgbClr val="E8F0F4"/>
          </a:solidFill>
          <a:ln/>
        </p:spPr>
      </p:sp>
      <p:pic>
        <p:nvPicPr>
          <p:cNvPr id="6" name="Image 0" descr="results/viz/paper_charts/chart3_reward_breakdow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" y="822960"/>
            <a:ext cx="7772400" cy="5760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29600" y="822960"/>
            <a:ext cx="3657600" cy="1371600"/>
          </a:xfrm>
          <a:prstGeom prst="roundRect">
            <a:avLst>
              <a:gd name="adj" fmla="val 333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394192" y="822960"/>
            <a:ext cx="332841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 100 轮: Progress+ATA 主导贡献，DAP 面积被压低。智能体高频吸收空间收拢稠密梯度，未发生 Reward Hacking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229600" y="2267712"/>
            <a:ext cx="3657600" cy="1371600"/>
          </a:xfrm>
          <a:prstGeom prst="roundRect">
            <a:avLst>
              <a:gd name="adj" fmla="val 333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394192" y="2267712"/>
            <a:ext cx="332841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轮后 (退火收紧): Progress 平滑趋于饱和，协同合围成功奖励面积呈统计显著性单调扩张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229600" y="3712464"/>
            <a:ext cx="3657600" cy="1371600"/>
          </a:xfrm>
          <a:prstGeom prst="roundRect">
            <a:avLst>
              <a:gd name="adj" fmla="val 333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394192" y="3712464"/>
            <a:ext cx="332841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完美 Handover: 梯度从空间引导平滑接力到协同合围——课程学习搭梯子跨越价值真空区的演进机理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4572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411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全版本消融大盘点: 六代模型完整进化证据链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566928"/>
            <a:ext cx="11612880" cy="9144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182880" y="868680"/>
            <a:ext cx="11521440" cy="43891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182880" y="868680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实验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011680" y="86868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架构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83280" y="868680"/>
            <a:ext cx="1645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动作空间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0" y="868680"/>
            <a:ext cx="1005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35040" y="868680"/>
            <a:ext cx="731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轮数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766560" y="868680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最佳 Eval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0" y="868680"/>
            <a:ext cx="731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Eval&gt;0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778240" y="868680"/>
            <a:ext cx="2926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关键发现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82880" y="1353312"/>
            <a:ext cx="11521440" cy="658368"/>
          </a:xfrm>
          <a:prstGeom prst="roundRect">
            <a:avLst>
              <a:gd name="adj" fmla="val 6944"/>
            </a:avLst>
          </a:prstGeom>
          <a:solidFill>
            <a:srgbClr val="F2F7F9"/>
          </a:solidFill>
          <a:ln w="6350">
            <a:solidFill>
              <a:srgbClr val="E8F0F4"/>
            </a:solidFill>
            <a:prstDash val="solid"/>
          </a:ln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82880" y="1353312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1 (非协同)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11680" y="1353312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Attn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83280" y="1353312"/>
            <a:ext cx="1645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Box(2)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1353312"/>
            <a:ext cx="1005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SB3 BC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035040" y="1353312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66560" y="1353312"/>
            <a:ext cx="1280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-8,053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046720" y="1353312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778240" y="1353312"/>
            <a:ext cx="2926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IPPO内卷死锁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2880" y="2057400"/>
            <a:ext cx="115214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6350">
            <a:solidFill>
              <a:srgbClr val="E8F0F4"/>
            </a:solidFill>
            <a:prstDash val="solid"/>
          </a:ln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82880" y="205740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2 (OR-gate)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011680" y="2057400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Attn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2057400"/>
            <a:ext cx="1645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Box(2)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0" y="2057400"/>
            <a:ext cx="1005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SB3 BC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035040" y="2057400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66560" y="2057400"/>
            <a:ext cx="1280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+7,888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046720" y="2057400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78240" y="2057400"/>
            <a:ext cx="2926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超SB3天花板33%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2880" y="2761488"/>
            <a:ext cx="11521440" cy="658368"/>
          </a:xfrm>
          <a:prstGeom prst="roundRect">
            <a:avLst>
              <a:gd name="adj" fmla="val 6944"/>
            </a:avLst>
          </a:prstGeom>
          <a:solidFill>
            <a:srgbClr val="F2F7F9"/>
          </a:solidFill>
          <a:ln w="6350">
            <a:solidFill>
              <a:srgbClr val="E8F0F4"/>
            </a:solidFill>
            <a:prstDash val="solid"/>
          </a:ln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182880" y="2761488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3v3 (AND退火)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011680" y="2761488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Attn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383280" y="2761488"/>
            <a:ext cx="1645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Box(2)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29200" y="2761488"/>
            <a:ext cx="1005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SB3 BC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035040" y="2761488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766560" y="2761488"/>
            <a:ext cx="1280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-1,171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046720" y="2761488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778240" y="2761488"/>
            <a:ext cx="2926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DAC拉升5000分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2880" y="3465576"/>
            <a:ext cx="115214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6350">
            <a:solidFill>
              <a:srgbClr val="E8F0F4"/>
            </a:solidFill>
            <a:prstDash val="solid"/>
          </a:ln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82880" y="3465576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4a (MLP)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2011680" y="3465576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fallback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383280" y="3465576"/>
            <a:ext cx="1645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029200" y="3465576"/>
            <a:ext cx="1005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035040" y="3465576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766560" y="3465576"/>
            <a:ext cx="1280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-4,542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046720" y="3465576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8778240" y="3465576"/>
            <a:ext cx="2926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纯MLP零BC—基线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182880" y="4169664"/>
            <a:ext cx="11521440" cy="658368"/>
          </a:xfrm>
          <a:prstGeom prst="roundRect">
            <a:avLst>
              <a:gd name="adj" fmla="val 6944"/>
            </a:avLst>
          </a:prstGeom>
          <a:solidFill>
            <a:srgbClr val="F2F7F9"/>
          </a:solidFill>
          <a:ln w="6350">
            <a:solidFill>
              <a:srgbClr val="E8F0F4"/>
            </a:solidFill>
            <a:prstDash val="solid"/>
          </a:ln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182880" y="4169664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4a-v2 (Attn)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2011680" y="4169664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Self-Attn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383280" y="4169664"/>
            <a:ext cx="1645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029200" y="4169664"/>
            <a:ext cx="1005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035040" y="4169664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766560" y="4169664"/>
            <a:ext cx="1280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+1,345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046720" y="4169664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1x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8778240" y="4169664"/>
            <a:ext cx="2926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Self-Attn冷启转正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182880" y="4873752"/>
            <a:ext cx="115214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6350">
            <a:solidFill>
              <a:srgbClr val="E8F0F4"/>
            </a:solidFill>
            <a:prstDash val="solid"/>
          </a:ln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182880" y="4873752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4b (Attn+BC)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2011680" y="4873752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Self-Attn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3383280" y="4873752"/>
            <a:ext cx="1645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029200" y="4873752"/>
            <a:ext cx="1005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离散BC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6035040" y="4873752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6766560" y="4873752"/>
            <a:ext cx="1280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-1,135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8046720" y="4873752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8778240" y="4873752"/>
            <a:ext cx="2926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BC稳定无额外峰值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182880" y="5577840"/>
            <a:ext cx="11521440" cy="658368"/>
          </a:xfrm>
          <a:prstGeom prst="roundRect">
            <a:avLst>
              <a:gd name="adj" fmla="val 6944"/>
            </a:avLst>
          </a:prstGeom>
          <a:solidFill>
            <a:srgbClr val="F2F7F9"/>
          </a:solidFill>
          <a:ln w="6350">
            <a:solidFill>
              <a:srgbClr val="E8F0F4"/>
            </a:solidFill>
            <a:prstDash val="solid"/>
          </a:ln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182880" y="557784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4a-v2 ext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2011680" y="5577840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Self-Attn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3383280" y="5577840"/>
            <a:ext cx="1645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029200" y="5577840"/>
            <a:ext cx="1005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6035040" y="5577840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6766560" y="5577840"/>
            <a:ext cx="1280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+2,376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8046720" y="5577840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8778240" y="5577840"/>
            <a:ext cx="2926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零知识涌现—结构定上限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82880" y="6327648"/>
            <a:ext cx="11521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 完整进化链: IPPO崩溃 → 连续拉升 → AND脱节 → 离散Self-Attn零知识转正。Inductive Bias决定上限, BC仅影响收敛速率。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4572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411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核心成果 1: 离散自注意力下的零知识战术涌现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566928"/>
            <a:ext cx="11612880" cy="9144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777240"/>
            <a:ext cx="5303520" cy="1371600"/>
          </a:xfrm>
          <a:prstGeom prst="roundRect">
            <a:avLst>
              <a:gd name="adj" fmla="val 333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38912" y="777240"/>
            <a:ext cx="497433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打破死记硬背质疑: 绝对冷启动，320 轮 3 次 Eval 大转正 (+1,345, +2,376, +4.0)，最高峰 +2,376 历史性高位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74320" y="2221992"/>
            <a:ext cx="5303520" cy="1371600"/>
          </a:xfrm>
          <a:prstGeom prst="roundRect">
            <a:avLst>
              <a:gd name="adj" fmla="val 333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38912" y="2221992"/>
            <a:ext cx="497433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轨迹三维校准: X:Y:Z=1:1:0.1 精确轴比修正。长机 200m 锁敌，高度包线 ±10m 平滑固化，无任何重力套利嫌疑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274320" y="3666744"/>
            <a:ext cx="5303520" cy="1371600"/>
          </a:xfrm>
          <a:prstGeom prst="roundRect">
            <a:avLst>
              <a:gd name="adj" fmla="val 333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38912" y="3666744"/>
            <a:ext cx="497433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KDE 统计铁证: 50 集 15,000+ 帧全量评估。红方打点在敌机尾部 35°-60° 黄金包围圈内凝聚为高密深红热区——协同引导已成全盘大样本统计本能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274320" y="5394960"/>
            <a:ext cx="214884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" y="543153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+2,376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74320" y="58978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最高Eval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突破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606040" y="5394960"/>
            <a:ext cx="214884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606040" y="543153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3×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606040" y="58978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正向转正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次数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37760" y="5394960"/>
            <a:ext cx="214884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37760" y="543153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320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4937760" y="58978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冷启动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轮数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69480" y="5394960"/>
            <a:ext cx="214884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269480" y="543153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7269480" y="58978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专家样本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干预</a:t>
            </a:r>
            <a:endParaRPr lang="en-US" sz="1200" dirty="0"/>
          </a:p>
        </p:txBody>
      </p:sp>
      <p:pic>
        <p:nvPicPr>
          <p:cNvPr id="24" name="Image 0" descr="results/viz/paper_charts/chart2_spatial_k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822960"/>
            <a:ext cx="3017520" cy="2926080"/>
          </a:xfrm>
          <a:prstGeom prst="rect">
            <a:avLst/>
          </a:prstGeom>
        </p:spPr>
      </p:pic>
      <p:pic>
        <p:nvPicPr>
          <p:cNvPr id="25" name="Image 1" descr="results/viz/paper_charts/chart5_health_metric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235440" y="822960"/>
            <a:ext cx="274320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4572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411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核心成果 2: 自发性对称破缺与持续性隐式协同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566928"/>
            <a:ext cx="11612880" cy="9144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777240"/>
            <a:ext cx="5486400" cy="1371600"/>
          </a:xfrm>
          <a:prstGeom prst="roundRect">
            <a:avLst>
              <a:gd name="adj" fmla="val 333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38912" y="777240"/>
            <a:ext cx="515721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Cohen d = -0.53 强效应量: 7,858 步瞬时几何角色切片。Interceptor MHA Self→Target 以极高统计显著性超越 Striker 31%，展现果断的高速弥补距离劣势角色偏好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74320" y="2221992"/>
            <a:ext cx="5486400" cy="1371600"/>
          </a:xfrm>
          <a:prstGeom prst="roundRect">
            <a:avLst>
              <a:gd name="adj" fmla="val 333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38912" y="2221992"/>
            <a:ext cx="515721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持续性隐式协同 (推翻二元切换假设): 两机 MHA Self→Mate 全时锁定在 0.44-0.45 极高一致高位。骨子里维持全时高强度团队默契，仅基于瞬时物理拓扑微调目标专注度——高级隐式协同范式</a:t>
            </a:r>
            <a:endParaRPr lang="en-US" sz="1800" dirty="0"/>
          </a:p>
        </p:txBody>
      </p:sp>
      <p:pic>
        <p:nvPicPr>
          <p:cNvPr id="10" name="Image 0" descr="results/viz/fig3_role_attention_matri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0" y="822960"/>
            <a:ext cx="566928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4572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411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信息论边界: CTDE 熵墙与 Failure Case 深度解剖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566928"/>
            <a:ext cx="11612880" cy="9144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822960"/>
            <a:ext cx="5303520" cy="694944"/>
          </a:xfrm>
          <a:prstGeom prst="roundRect">
            <a:avLst>
              <a:gd name="adj" fmla="val 6579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82296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双机同步入线率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840480" y="82296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0.0%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1207008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致命瓶颈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1572768"/>
            <a:ext cx="5303520" cy="694944"/>
          </a:xfrm>
          <a:prstGeom prst="roundRect">
            <a:avLst>
              <a:gd name="adj" fmla="val 6579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" y="1572768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单机入线率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40480" y="157276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22.1%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1956816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可以接近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2322576"/>
            <a:ext cx="5303520" cy="694944"/>
          </a:xfrm>
          <a:prstGeom prst="roundRect">
            <a:avLst>
              <a:gd name="adj" fmla="val 6579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7200" y="232257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夹击角 &gt;30°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840480" y="2322576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58.4%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" y="2706624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空间合格!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3072384"/>
            <a:ext cx="5303520" cy="694944"/>
          </a:xfrm>
          <a:prstGeom prst="roundRect">
            <a:avLst>
              <a:gd name="adj" fmla="val 6579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57200" y="3072384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中位距离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840480" y="307238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329 m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57200" y="3456432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逼近出色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3822192"/>
            <a:ext cx="5303520" cy="694944"/>
          </a:xfrm>
          <a:prstGeom prst="roundRect">
            <a:avLst>
              <a:gd name="adj" fmla="val 6579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" y="3822192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中位距离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840480" y="382219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1,974 m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57200" y="4206240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无法缩小差距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943600" y="4846320"/>
            <a:ext cx="5943600" cy="-1054608"/>
          </a:xfrm>
          <a:prstGeom prst="roundRect">
            <a:avLst>
              <a:gd name="adj" fmla="val -4335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108192" y="4846320"/>
            <a:ext cx="5614416" cy="-1054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边缘悬崖: 320 轮后期 Logits 跨格点抖动跌至 -6,653。离散 AND-gate 奖励曲面演变为窄深峡谷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943600" y="3864864"/>
            <a:ext cx="5943600" cy="-1054608"/>
          </a:xfrm>
          <a:prstGeom prst="roundRect">
            <a:avLst>
              <a:gd name="adj" fmla="val -4335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108192" y="3864864"/>
            <a:ext cx="5614416" cy="-1054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CTDE 天花板: 33-dim 局部视界缺乏 ΔTGO 表达。僚机算不准长机踩进 800m 的秒级相位戳，梯度夹杂时序噪声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943600" y="2883408"/>
            <a:ext cx="5943600" cy="-1054608"/>
          </a:xfrm>
          <a:prstGeom prst="roundRect">
            <a:avLst>
              <a:gd name="adj" fmla="val -4335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108192" y="2883408"/>
            <a:ext cx="5614416" cy="-1054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诚实结论: 划定扁平无通信分布式控制在严格 AND 同步任务的理论边界，为层级控制+显式通信提供科学 Imperative</a:t>
            </a:r>
            <a:endParaRPr lang="en-US" sz="1400" dirty="0"/>
          </a:p>
        </p:txBody>
      </p:sp>
      <p:pic>
        <p:nvPicPr>
          <p:cNvPr id="32" name="Image 0" descr="results/viz/paper_charts/chart4_termination_reas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868680"/>
            <a:ext cx="5943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4572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411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未来进军路线: 层级 SMDP + 匈牙利指派 + Self-Play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566928"/>
            <a:ext cx="11612880" cy="9144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868680"/>
            <a:ext cx="1161288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97280"/>
            <a:ext cx="594360" cy="59436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972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280160" y="98755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大规模外推 + 匈牙利算法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80160" y="137160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参数共享+语义 Token 零成本 N 机扩展。转向 3v1/4v2，挂载匈牙利算法剪枝火力-目标匹配组合爆炸。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74320" y="2240280"/>
            <a:ext cx="1161288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68880"/>
            <a:ext cx="594360" cy="59436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4688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280160" y="235915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微分层 SMDP 重构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274320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上层 Policy 2Hz 专注宏观 BFM 意图坚决输出；下层 Action Masking 60Hz 物理安全锁死。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74320" y="3611880"/>
            <a:ext cx="1161288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840480"/>
            <a:ext cx="594360" cy="59436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8404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280160" y="373075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Self-Play + League Training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411480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群体课程自博弈 (PCSP) + 联赛训练，拆除固定脚本，红蓝对抗中螺旋进化最高阶空战战术。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74320" y="4983480"/>
            <a:ext cx="1161288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5212080"/>
            <a:ext cx="594360" cy="59436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5212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280160" y="510235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显式 ΔTGO 通信信道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280160" y="548640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引入预计到达时间差信号，架设时空同步桥梁，一击突破 AND-gate 终极天花板。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274320" y="6492240"/>
            <a:ext cx="11612880" cy="27432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274320" y="6629400"/>
            <a:ext cx="1161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感谢聆听 · 欢迎提问与讨论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274320" y="7086600"/>
            <a:ext cx="1161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sean@zju.edu.cn  ·  github.com/NishimiyaXSean/jsbsim-marl-formation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4572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411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附录: 网络健康诊断 (Q&amp;A 防守页)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566928"/>
            <a:ext cx="11612880" cy="9144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777240"/>
            <a:ext cx="5486400" cy="1371600"/>
          </a:xfrm>
          <a:prstGeom prst="roundRect">
            <a:avLst>
              <a:gd name="adj" fmla="val 333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38912" y="777240"/>
            <a:ext cx="515721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Explained Variance: 跨越 0.2 混沌区后以极高鲁棒性单调爬升，最终稳定在 0.85+ 高位平台——集中式评论员已彻底拟合 600 步超长时序的联合状态价值边界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74320" y="2221992"/>
            <a:ext cx="5486400" cy="1371600"/>
          </a:xfrm>
          <a:prstGeom prst="roundRect">
            <a:avLst>
              <a:gd name="adj" fmla="val 333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38912" y="2221992"/>
            <a:ext cx="515721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Entropy: 策略熵由理论格点上限 2.71 极其平滑单调地下移至 1.77 中心平台。无崩塌至 0.04 导致的策略僵死，也无发散至 2.5+ 的无序随机——系统处于极佳淬火期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4320" y="3666744"/>
            <a:ext cx="5486400" cy="1371600"/>
          </a:xfrm>
          <a:prstGeom prst="roundRect">
            <a:avLst>
              <a:gd name="adj" fmla="val 333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38912" y="3666744"/>
            <a:ext cx="515721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结论: 所有前述成果的第一底层算法健康铁证。梯度无作弊、无套利、无崩溃</a:t>
            </a:r>
            <a:endParaRPr lang="en-US" sz="1800" dirty="0"/>
          </a:p>
        </p:txBody>
      </p:sp>
      <p:pic>
        <p:nvPicPr>
          <p:cNvPr id="12" name="Image 0" descr="results/viz/paper_charts/chart5_health_metric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822960"/>
            <a:ext cx="5943600" cy="57607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基于MARL的协同编队飞行决策</dc:title>
  <dc:subject>PptxGenJS Presentation</dc:subject>
  <dc:creator>Sean Nishimiya</dc:creator>
  <cp:lastModifiedBy>Sean Nishimiya</cp:lastModifiedBy>
  <cp:revision>1</cp:revision>
  <dcterms:created xsi:type="dcterms:W3CDTF">2026-07-10T04:36:46Z</dcterms:created>
  <dcterms:modified xsi:type="dcterms:W3CDTF">2026-07-10T04:36:46Z</dcterms:modified>
</cp:coreProperties>
</file>