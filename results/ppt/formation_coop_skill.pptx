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18288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Reinforcement Learning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Cooperative Formation Flight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Outperforms Centralized PPO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JSBSim 6-DOF F-16 Formation Pursuit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·  Zhejiang University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Background &amp; High-Fidelity Environment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air combat has evolved into N×M system-of-systems engagement,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dependent on spatiotemporal coordination between assets.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2v1 formation pursuit serves as the minimal viable testbed for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multi-agent coordination under physical dynamics constraints.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JSBSim 6-DOF F-16 FDM provides extreme aerodynamic fidelity.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FlightController @ 60 Hz PID handles low-level stabilization.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RLlib MAPPO + Ray 2.40 delivers scalable multi-agent training.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8DD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733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94767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FormationEnv → RLlib MultiAgentEnv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2v1 cooperative, NvM extensible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OR-gate → AND-gate curriculum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8803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8DD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9535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22783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MAPPO (CTDE)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Self-Attn: 33-dim → 3 tokens → MHA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+ Action Masking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8DD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42336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50799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JSBSim F-16 FDM → FlightController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RLlib TorchModelV2 + shared_policy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CUDA GPU passthrough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Challenge — The Death Triangle of Cooperation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1543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Non-Stationarity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 causes symmetry involution.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critics → environment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to each agent.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stuck at −7,500 plateau.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CC44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Shared MAPPO (4× better)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28016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15436B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Credit Assignment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10312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Box(2) + 600-step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→ Gaussian variance collapse.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runs away to 4.15.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drowns coordination.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45720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CC44D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Discrete caps entropy at 2.71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1543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AND-Gate Blind Zone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210312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800m dual-entry requirement.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median distance = 1,974m.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entry rate = 0.0%.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OK, timing desynchronized.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45720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2CC44D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Curriculum + pacing penalty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Evolution I — Token-Based Self-Attention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Flat MLP to Semantic 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[33] decomposed into 3 semantic tokens: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 (13):    own velocity, attitude, angular velocity, height, 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(14):  target rel pos/vel, tactical angles, LOS rate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 (6):     wingman rel pos/vel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Token-Type Embedding → MultiHeadAttention (4 heads, d=128)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Learned Attention Pooling → MLP [256,256] → action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Permutation Invariance.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shared network, different observations per agent →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role differentiation via attention weights.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Role-Grouped Attention (Fig 3)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7,858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per 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episodes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05256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525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Cohen's 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Self→Target (large)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52144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52144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52144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Mate Attn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2144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99032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99032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35.8°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99032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Pincer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99032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range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31089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Striker MHA Self→Mate: 0.450 (coordination). Interceptor Self→Target: 0.389 (pursuit).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Both agents sustain high mutual attention (~0.44) — continuous implicit coordination.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Mathematical proof of emergent role differentiation from parameter-shared network.</a:t>
            </a:r>
            <a:endParaRPr lang="en-US" sz="1100" dirty="0"/>
          </a:p>
        </p:txBody>
      </p:sp>
      <p:pic>
        <p:nvPicPr>
          <p:cNvPr id="25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4114800"/>
            <a:ext cx="50292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Evolution II — Continuous Chaos → Discrete Emergence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Abandon Box(2)?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DiagGaussian → unbounded sampling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clamping (±1.0) to prevent NaN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diffuses in 2D → entropy runaway to 4.15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600-step episodes → credit assignment nearly impossible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= 15 bounded tactical primitives.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theoretically capped at log(5)+log(3) = 2.71.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prevents physically impossible actions.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MultiDiscrete([5, 3]) = 15 Tactical Primitives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(5-way)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011680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Left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0" y="201168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−15°/s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359152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59152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35915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Left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235915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−5°/s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706624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706624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706624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0" y="270662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0°/s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54096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054096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0540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305409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+5°/s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401568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401568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40156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340156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+15°/s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(3-way)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251960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251960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25196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425196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m/s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599432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599432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59943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0" y="459943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m/s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946904"/>
            <a:ext cx="5029200" cy="301752"/>
          </a:xfrm>
          <a:prstGeom prst="roundRect">
            <a:avLst>
              <a:gd name="adj" fmla="val 12121"/>
            </a:avLst>
          </a:prstGeom>
          <a:solidFill>
            <a:srgbClr val="15436B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4946904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4946904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0" y="494690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m/s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5477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Action Masking prevents stall, ground collision, and overspeed maneuvers in real-time.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Innovation — Dynamic Curriculum &amp; Reward Shaping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AND-Gate Annealing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AND-gate requires BOTH &lt; 800m + pincer &gt; 30°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median distance = 1,974m → synchronized entry rate = 0%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AND_DIST anneals 2000m → 800m over training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 = max(800, 2000 − decay_rate × iteration)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eval improved from −8,800 to −1,171 (+4,700 pts)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1,200–1,300m identified as CTDE learnability boundary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Cooperative Reward Mechanisms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Asymmetry Penalty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19842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|d₀−d₁| &gt; 500m → team penalty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free-riding behavior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P1 lagging behind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92608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Time-Sync Pacing Penalty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331012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&amp;&amp; Int &gt; 1500m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sync_penalty = (dᵢₙₜ−dₛₜᵣ)/1000 × dt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striker to wait for wingman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425196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4343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Role Assignment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463600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(closer): tracking ×1.5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(further): pincer ×2.0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lazy pursuer incentive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 — Six-Generation Model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777240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Eval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1554480"/>
            <a:ext cx="7772400" cy="384048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554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(non-coop)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554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15544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554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−8,053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15544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1984248"/>
            <a:ext cx="7772400" cy="384048"/>
          </a:xfrm>
          <a:prstGeom prst="rect">
            <a:avLst/>
          </a:prstGeom>
          <a:solidFill>
            <a:srgbClr val="1D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1984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19842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1984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9842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19842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9842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19842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414016"/>
            <a:ext cx="7772400" cy="384048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24140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 dyn)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08960" y="24140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2414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24140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24140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24140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−1,171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24140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2843784"/>
            <a:ext cx="7772400" cy="384048"/>
          </a:xfrm>
          <a:prstGeom prst="rect">
            <a:avLst/>
          </a:prstGeom>
          <a:solidFill>
            <a:srgbClr val="1D4F73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28437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08960" y="28437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97680" y="2843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28437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0" y="28437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28437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−4,542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28437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0" y="3273552"/>
            <a:ext cx="7772400" cy="384048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0" y="3273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(Attn)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108960" y="32735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97680" y="3273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0" y="3273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32735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32735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32735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371600" y="3703320"/>
            <a:ext cx="7772400" cy="384048"/>
          </a:xfrm>
          <a:prstGeom prst="rect">
            <a:avLst/>
          </a:prstGeom>
          <a:solidFill>
            <a:srgbClr val="1D4F73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600" y="3703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108960" y="3703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97680" y="3703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669280" y="37033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BC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583680" y="37033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0" y="3703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−1,135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12480" y="37033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4133088"/>
            <a:ext cx="7772400" cy="384048"/>
          </a:xfrm>
          <a:prstGeom prst="rect">
            <a:avLst/>
          </a:prstGeom>
          <a:solidFill>
            <a:srgbClr val="15436B"/>
          </a:solidFill>
          <a:ln/>
        </p:spPr>
      </p:sp>
      <p:sp>
        <p:nvSpPr>
          <p:cNvPr id="62" name="Text 60"/>
          <p:cNvSpPr/>
          <p:nvPr/>
        </p:nvSpPr>
        <p:spPr>
          <a:xfrm>
            <a:off x="1371600" y="41330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ext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108960" y="4133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297680" y="41330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0" y="4133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83680" y="413308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15200" y="41330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412480" y="413308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8640" y="483717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Self-Attention is the decisive factor: cold-start Attn beats MLP by 5,887 pts. BC provides stability but no extra peak.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Breakthrough — Zero-Knowledge Emergence of Cooperative Tactics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Self-Attention (320 iterations, NO expert data)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reward peak: +5,401 (iter 300 of 460 total)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positive spikes: +1,345, +2,376, +4.0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2.49 → 1.87 — healthy convergence, NOT divergence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KL: stable 0.004–0.013 — controlled policy updates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baseline: never achieved a single eval-positive spike.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 achieved 3 spikes — purely architectural advantage.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STRUCTURE DETERMINES THE CEILING.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architecture spontaneously learns cooperative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pursuit through physical interaction — zero expert knowledge.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5436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011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1323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Eval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5436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0" y="2011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3268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52144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5436B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0" y="2011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152144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5436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0" y="2011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7160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411480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MLP: best −4,542  |  Self-Attn: best +2,376  |  Δ = 5,887 pts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Proof — Spontaneous Role Differentiation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 3: Role-Grouped Averaged Attention Matrix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episodes, 7,858 steps per role.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by instantaneous geometry, NOT agent ID.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MHA: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Self→Mate = 0.450 (coordination focus)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Pool Mate = 0.341 (learned pooling weight)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Self→Target = 0.389 (pursuit focus)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Pool Mate = 0.298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−0.53 (large effect, p &lt; 0.001)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pays 31% more attention to Target.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roles sustain high mate attention (~0.44)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 implicit coordination, not binary switching.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Definitive proof of emergent role differentiation.</a:t>
            </a:r>
            <a:endParaRPr lang="en-US" sz="1200" dirty="0"/>
          </a:p>
        </p:txBody>
      </p:sp>
      <p:pic>
        <p:nvPicPr>
          <p:cNvPr id="7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28016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Boundary Analysis — Why AND-Gate Eventually Retreats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AND-Gate Autopsy (10 eval episodes from Exp 3 checkpoint)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15436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Entry Rate (BOTH &lt; 800m)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39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fatal bottleneck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1543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Rate (≥1 &lt; 800m)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395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can approach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15436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54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Pincer Angle &gt; 30°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0540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558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is good!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15436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124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Median Distance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712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0142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approach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370832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15436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Median Distance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43708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6725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close the gap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Identified Theoretical Ceilings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173736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5436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CTDE Information Asymmetry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2103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33-dim local obs cannot encode global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state. Centralized Critic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but cannot fully compensate.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92608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5436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 Exploration Boundary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3291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strict 800m AND-gate, entropy at 3.6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15 primitives may be too few.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head nears saturation.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41148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5436B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Desynchronization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4480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time-to-intercept signal.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spatially (pincer 35°)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cannot synchronize arrival times.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 — Toward N×M Scalable Formation Combat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8132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Assignment Constraints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for NvM weapon-target pairing. Solve combinatorial explosion in large-scale formation. Reference: DARPA ACE / OFFSET programs.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5786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Micro-Hierarchy SMDP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788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level: low-freq tactical option selection. Lower level: high-freq action masking + flight control. Bridges strategic planning and tactical execution.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7588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&amp; League Training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scripted targets to adversarial training. Population-based training with diversity objectives. Emergent tactics through competitive co-evolution.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0D8DD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77316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6634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Coordination Channels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983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ΔTGO (time-to-go difference) to global state. Learned communication via attention or message passing. Break the AND-gate barrier with explicit temporal signals.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852160"/>
            <a:ext cx="109728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 &amp; Discussion welcome.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·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RL for Cooperative Formation Flight</dc:title>
  <dc:subject>PptxGenJS Presentation</dc:subject>
  <dc:creator>Sean Nishimiya</dc:creator>
  <cp:lastModifiedBy>Sean Nishimiya</cp:lastModifiedBy>
  <cp:revision>1</cp:revision>
  <dcterms:created xsi:type="dcterms:W3CDTF">2026-07-09T16:02:35Z</dcterms:created>
  <dcterms:modified xsi:type="dcterms:W3CDTF">2026-07-09T16:02:35Z</dcterms:modified>
</cp:coreProperties>
</file>