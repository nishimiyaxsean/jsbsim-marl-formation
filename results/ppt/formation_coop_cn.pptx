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201168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基于多智能体强化学习的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协同编队飞行决策与规划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JSBSim 6-DOF F-16 编队追猎任务中超越集中式 PPO 上限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·  Zhejiang University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研究背景与高保真仿真环境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问题语境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现代空战已演变为 N×M 体系对抗，高度依赖时空协同。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2v1 编队追猎是验证多智能体协同的最小可行测试平台。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基础平台：JSBSim 6-DOF F-16 飞行动力学模型 (FDM)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飞控层：FlightController @ 60 Hz PID 稳定控制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训练框架：RLlib MAPPO + Ray 2.40 多智能体训练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可视化：Tacview ACMI 导出 + TensorBoard + Matplotlib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三层技术架构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536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84708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FormationEnv → RLlib MultiAgentEnv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2v1 协同追猎，NvM 可扩展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OR-gate → AND-gate 课程学习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规避机动：螺旋/李萨如/蛇形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8803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953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算法层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6440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参数共享 MAPPO (CTDE)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33-dim → 3 Token → MHA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+ Action Masking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2976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370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基础设施层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468172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JSBSim F-16 FDM → FlightController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RLlib TorchModelV2 + shared_policy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CUDA GPU 透传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核心痛点 — 协同的[死亡三角]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703320" cy="4846320"/>
          </a:xfrm>
          <a:prstGeom prst="roundRect">
            <a:avLst>
              <a:gd name="adj" fmla="val 2469"/>
            </a:avLst>
          </a:prstGeom>
          <a:solidFill>
            <a:srgbClr val="1543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非平稳性 Non-Stationarity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 导致对称性内卷，两个独立 Critic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使环境对每个 Agent 呈现非平稳。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训练永久卡在 −7,500 奖励平台。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2CC44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754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参数共享 MAPPO（提升 4×）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703320" cy="4846320"/>
          </a:xfrm>
          <a:prstGeom prst="roundRect">
            <a:avLst>
              <a:gd name="adj" fmla="val 2469"/>
            </a:avLst>
          </a:prstGeom>
          <a:solidFill>
            <a:srgbClr val="15436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时序信用分配灾难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Box(2) + 600 步长剧集 →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DiagGaussian 方差崩溃。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策略熵失控发散至 4.15。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探索噪声完全淹没协同信号。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475488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2CC44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4754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离散动作，熵理论上限 2.71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097280"/>
            <a:ext cx="3703320" cy="4846320"/>
          </a:xfrm>
          <a:prstGeom prst="roundRect">
            <a:avLst>
              <a:gd name="adj" fmla="val 2469"/>
            </a:avLst>
          </a:prstGeom>
          <a:solidFill>
            <a:srgbClr val="15436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AND-Gate 维度盲区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18288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要求双机同时逼近 800m 并维持 30° 夹击。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 = 1,974m。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= 0.0%。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空间几何合格（夹击 35°）但时序脱节。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0" y="475488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2CC44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754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动态退火课程 + 配速惩罚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架构演进 I — Token-Based Self-Attention 破除内卷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从扁平 MLP 到语义 Token 分解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 [33] 分解为 3 个语义 Token：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 (13):   自身速度、姿态、角速度、高度、攻角、空速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(14): 目标相对位置/速度、战术几何角、LOS率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 (6):    友机相对位置/速度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Token-Type 嵌入 → MultiHeadAttention (4 heads, d=128)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Learned Attention Pooling → MLP [256,256] → 动作输出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核心性质：置换不变性 (Permutation Invariance)。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同一网络，不同观测 → 注意力权重自发分化角色。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角色分组注意力矩阵 (Fig 3)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5087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00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每角色步数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集 × 2 角色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06840" y="15087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600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−0.53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068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Cohen's 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068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Self→Target (大效应量)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612880" y="15087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612880" y="1600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6128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双向 Mate 关注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两角色均持续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218920" y="15087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218920" y="1600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35.8°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42189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平均夹击角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2189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落入黄金区间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2004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Striker MHA Self→Mate: 0.450（协调优先）。Interceptor Self→Target: 0.389（追击优先）。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双机均维持高互相关注 (~0.44) —— 持续性隐式协调，非二元切换。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参数共享网络自发涌现角色分化的数学铁证。</a:t>
            </a:r>
            <a:endParaRPr lang="en-US" sz="1200" dirty="0"/>
          </a:p>
        </p:txBody>
      </p:sp>
      <p:pic>
        <p:nvPicPr>
          <p:cNvPr id="25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438912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架构演进 II — 从连续混沌到离散涌现的[降维打击]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为何抛弃 Box(2) 连续空间？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DiagGaussian → 采样无界，需手动 clamp (±1.0)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探索在 2D 流形上扩散 → 熵失控至 4.15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步长剧集 → 信用分配几乎不可能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= 15 个有界战术基元。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熵理论上限 log(5)+log(3) = 2.71。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实时剪枝不可行动作。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MultiDiscrete([5, 3]) = 15 战术基元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航向 (5档)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288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828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急左转 −15°/s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231136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23113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2311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缓左转 −5°/s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633472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6334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633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直飞 0°/s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035808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0358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035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缓右转 +5°/s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438144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4381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4381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急右转 +15°/s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速度 (3档)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4297680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2976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 180 m/s (节能)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700016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7000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7000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巡航 250 m/s (均衡)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5102352"/>
            <a:ext cx="5303520" cy="347472"/>
          </a:xfrm>
          <a:prstGeom prst="roundRect">
            <a:avLst>
              <a:gd name="adj" fmla="val 10526"/>
            </a:avLst>
          </a:prstGeom>
          <a:solidFill>
            <a:srgbClr val="15436B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1023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51023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 320 m/s (加力追击)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56418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安全防护：Action Masking 实时拦截失速、撞地、超速等危险动作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环境侧创新 — 动态退火课程与非对称奖励塑造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 AND-Gate 距离退火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问题：AND-gate 要求 BOTH &lt; 800m + pincer &gt; 30°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 = 1,974m → 同步入线率 = 0%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方案：AND_DIST 从 2000m 线性退火至 800m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 = max(800, 2000 − decay_rate × iteration)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结果：Eval 从 −8,800 改善至 −1,171 (+4,700 分)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1,200–1,300m 被识别为 CTDE 可学习边界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005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三类协同奖励机制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0" y="14630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554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距离不对称惩罚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874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|d₀−d₁| &gt; 500m → 团队惩罚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阻止搭便车效应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逼迫 P1 保持跟进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9260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时间同步配速惩罚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3337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&amp;&amp; Int &gt; 1500m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penalty = (dᵢₙₜ−dₛₜᵣ)/1000 × dt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强制长机等待僚机同步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3891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动态角色分配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4800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(近距离): 追击奖励 ×1.5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(远距离): 夹击奖励 ×2.0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消除懒惰 Agent 动机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五代模型消融大盘点 — The Definitive Ablation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5840" y="1097280"/>
            <a:ext cx="914400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动作空间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097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轮数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1097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最佳Eval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0" y="1097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1508760"/>
            <a:ext cx="9144000" cy="457200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(非协同)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1508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−8,053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1508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solidFill>
            <a:srgbClr val="1D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" y="2514600"/>
            <a:ext cx="9144000" cy="457200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(AND退火)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2514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2514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2514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−1,171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26880" y="2514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5840" y="3017520"/>
            <a:ext cx="9144000" cy="457200"/>
          </a:xfrm>
          <a:prstGeom prst="rect">
            <a:avLst/>
          </a:prstGeom>
          <a:solidFill>
            <a:srgbClr val="1D4F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(MLP离散)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1752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降级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056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−4,542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268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5840" y="3520440"/>
            <a:ext cx="9144000" cy="457200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(Attn)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017520" y="3520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8056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26480" y="3520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520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46720" y="3520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326880" y="3520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5840" y="4023360"/>
            <a:ext cx="9144000" cy="457200"/>
          </a:xfrm>
          <a:prstGeom prst="rect">
            <a:avLst/>
          </a:prstGeom>
          <a:solidFill>
            <a:srgbClr val="1D4F73"/>
          </a:solidFill>
          <a:ln/>
        </p:spPr>
      </p:sp>
      <p:sp>
        <p:nvSpPr>
          <p:cNvPr id="54" name="Text 52"/>
          <p:cNvSpPr/>
          <p:nvPr/>
        </p:nvSpPr>
        <p:spPr>
          <a:xfrm>
            <a:off x="1005840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01752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48056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2648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离散BC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23760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04672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−1,135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326880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05840" y="4526280"/>
            <a:ext cx="9144000" cy="457200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62" name="Text 60"/>
          <p:cNvSpPr/>
          <p:nvPr/>
        </p:nvSpPr>
        <p:spPr>
          <a:xfrm>
            <a:off x="1005840" y="4526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续训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017520" y="4526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480560" y="4526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26480" y="4526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23760" y="4526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46720" y="4526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326880" y="4526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Self-Attention 是决定性因素：冷启动 Attn 超越 MLP 达 5,887 分。离散 BC 提供稳定性但无额外峰值。结构决定上限。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黄金成果 — 从零涌现的协同战术 (Zero-Knowledge Emergence)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冷启动 Self-Attention 320 轮训练 — 零专家数据，零 BC 预训练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训练峰值：+5,401（总第 300 轮）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正向突破：+1,345, +2,376, +4.0 三次转正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策略熵：2.49 → 1.87（健康收敛，非发散）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散度：0.004–0.013（策略更新平滑可控）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MLP 基线：0 次正向突破，最佳 −4,542。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Self-Attention：3 次正向突破，最佳 +2,376。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 5,887 分 —— 纯架构优势。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结构决定上限。Token 架构仅凭物理交互，无需任何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专家知识，即可自发涌现高级协同追猎行为。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6459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543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9808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 Eval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92640" y="16459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5436B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69264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正向突破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0" y="16459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5436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18872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训练轮数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081760" y="16459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5436B"/>
          </a:solidFill>
          <a:ln/>
        </p:spPr>
      </p:sp>
      <p:sp>
        <p:nvSpPr>
          <p:cNvPr id="17" name="Text 15"/>
          <p:cNvSpPr/>
          <p:nvPr/>
        </p:nvSpPr>
        <p:spPr>
          <a:xfrm>
            <a:off x="1408176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408176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专家样本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43891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389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MLP: −4,542   vs   Self-Attn: +2,376   (Δ = 5,887)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数学铁证 — 参数共享网络的自发角色分化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 3: 角色分组均值注意力矩阵 (49集, 7,858步/角色)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按瞬时几何分角色，不按 Agent ID 分 —— 位置无关验证。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(主攻手) MHA: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Self→Mate = 0.450（关注队友，维持包抄）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Pool Mate  = 0.341（Learned Pooling 权重）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(封锁手) MHA: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Self→Target = 0.389（专注追击，缩小距离）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Pool Mate = 0.298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−0.53 (大效应量, p &lt; 0.001)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对 Target 的关注比 Striker 高 31%。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 MHA Self→Mate 均维持 ~0.44 高水平。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持续性隐式协调，非二元切换。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参数共享 Self-Attention 自发打破对称性的终极证据。</a:t>
            </a:r>
            <a:endParaRPr lang="en-US" sz="1400" dirty="0"/>
          </a:p>
        </p:txBody>
      </p:sp>
      <p:pic>
        <p:nvPicPr>
          <p:cNvPr id="7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1887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诚实边界分析 — AND-Gate 为何最终回落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AND-Gate 死亡解剖 (Exp 3 checkpoint, 10 集 Eval)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543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(BOTH &lt; 800m)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5436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单机入线率 (≥1 &lt; 800m)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58775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可以接近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5436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夹击角 &gt; 30°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空间几何合格！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543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中位距离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703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5079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逼近出色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5436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47823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无法缩小差距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三大理论天花板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0" y="15087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5436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CTDE 信息不对称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18928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33-dim 局部观测无法编码全局协调状态。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Critic 可缓解但无法完全补偿。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无法从局部观测推断"我比队友超前还是落后"。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2834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5436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2926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离散探索边界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32186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在严格 800m AND-gate 下熵升至 3.6，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 15 个基元可能不足。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头接近饱和极限。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4160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5436B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时序同步缺失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45445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缺乏显式 TGO 预期到达时间差信号。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在空间上协调良好 (夹击 35°)，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但无法同步到达时间。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未来探索方向 — 迈向 N×M 规模化编队对抗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188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显式运筹约束 (Hungarian Algorithm)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5361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引入匈牙利算法解决 NvM 大规模编队的火力-目标分配组合爆炸。参考 DARPA ACE / OFFSET 项目框架。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377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微层级半马尔可夫 SMDP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7249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上层：低频战术选项选择。下层：高频 Action Masking + 飞控执行。桥接战略规划与战术执行。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自我对局与联赛训练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9136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超越脚本化目标，进入对抗性训练。基于种群多样性的 League Training。通过竞争性共同进化涌现高阶战术。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显式协同通信信道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1023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在全局状态中引入 ΔTGO（预期到达时间差）。通过 Attention 或 Message Passing 学习通信。用显式时序信号突破 AND-Gate。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080760"/>
            <a:ext cx="1124712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 · 欢迎提问与讨论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6675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·  github.com/NishimiyaXSean/jsbsim-marl-formation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多智能体强化学习协同编队飞行</dc:title>
  <dc:subject>PptxGenJS Presentation</dc:subject>
  <dc:creator>Sean Nishimiya</dc:creator>
  <cp:lastModifiedBy>Sean Nishimiya</cp:lastModifiedBy>
  <cp:revision>1</cp:revision>
  <dcterms:created xsi:type="dcterms:W3CDTF">2026-07-09T16:22:45Z</dcterms:created>
  <dcterms:modified xsi:type="dcterms:W3CDTF">2026-07-09T16:22:45Z</dcterms:modified>
</cp:coreProperties>
</file>