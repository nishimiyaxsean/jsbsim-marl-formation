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194560"/>
            <a:ext cx="201168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Reinforcement Learning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Cooperative Formation Flight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CTDE with Self-Attention + Discrete Primitives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Centralized PPO on JSBSim 6-DOF F-16 Pursuit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Nishimiya  ·  Zhejiang University  ·  July 2026  ·  github.com/NishimiyaXSean/jsbsim-marl-formation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Challenge — The -7,500 Involution Deadlock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1247120" cy="13716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3611880" cy="4572000"/>
          </a:xfrm>
          <a:prstGeom prst="roundRect">
            <a:avLst>
              <a:gd name="adj" fmla="val 1519"/>
            </a:avLst>
          </a:prstGeom>
          <a:solidFill>
            <a:srgbClr val="F2F7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Non-Stationarity (IPPO)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critics → environment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non-stationarity. Training stuck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-7,500 plateau indefinitely.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389120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2CC44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389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MAPPO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(4x improvement)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188720"/>
            <a:ext cx="3611880" cy="4572000"/>
          </a:xfrm>
          <a:prstGeom prst="roundRect">
            <a:avLst>
              <a:gd name="adj" fmla="val 1519"/>
            </a:avLst>
          </a:prstGeom>
          <a:solidFill>
            <a:srgbClr val="F2F7F9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325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Credit Assignment Collapse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19202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Box(2) + 600-step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episodes → Gaussian variance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dies. Entropy diverges to 4.15.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80560" y="4389120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2CC44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4389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Discrete actions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 entropy at 2.71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188720"/>
            <a:ext cx="3611880" cy="4572000"/>
          </a:xfrm>
          <a:prstGeom prst="roundRect">
            <a:avLst>
              <a:gd name="adj" fmla="val 1519"/>
            </a:avLst>
          </a:prstGeom>
          <a:solidFill>
            <a:srgbClr val="F2F7F9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1325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AND-Gate Temporal Gap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19202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Dual-entry at 800m required.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median = 1,974m.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entry rate = 0.0%.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321040" y="4389120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2CC44D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4389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annealing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pacing penalty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I — Parameter-Shared Self-Attention CTDE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1247120" cy="13716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Token-Based Multi-Head Self-Attention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[33] → 3 semantic tokens: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Self (13):     velocity, attitude, height, AoA, airspeed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Target (14):   rel pos/vel, tactical angles, LOS rate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Mate (6):      wingman rel pos/vel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Token-Type Embedding → MHA (4 heads, d=128)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Learned Attention Pooling → MLP [256,256]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policy for P0 and P1 → Permutation Invariance.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network weights; different attention per agent.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1143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Role-Grouped Attention (Fig 3, 7,858 steps)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2468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0.450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21792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Striker MHA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Self→Mate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23960" y="1645920"/>
            <a:ext cx="2468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82396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0.389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82396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Interceptor MHA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Self→Target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430000" y="1645920"/>
            <a:ext cx="2468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43000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-0.53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143000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Cohen's 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(large effect)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4036040" y="1645920"/>
            <a:ext cx="2468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403604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403604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Mutual Mate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agents sustain high mate attention (~0.44) — continuous implicit coordination.</a:t>
            </a:r>
            <a:endParaRPr lang="en-US" sz="1200" dirty="0"/>
          </a:p>
        </p:txBody>
      </p:sp>
      <p:pic>
        <p:nvPicPr>
          <p:cNvPr id="22" name="Image 0" descr="results/viz/fig3_role_attent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374904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II — Discrete Tactical Primitives + Action Masking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1247120" cy="13716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Abandon Box(2)?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303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DiagGaussian → unbounded sampling, manual clamping.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diffuses in 2D → entropy runaway to 4.15.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600-step episodes → credit assignment nearly impossible.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MultiDiscrete([5,3]) = 15 bounded tactical primitives.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capped at log(5)+log(3) = 2.71 theoretically.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masking prevents physically impossible maneuvers.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1143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MultiDiscrete([5, 3]) = 15 Primitives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21792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901952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F2F7F9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901952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190195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Left  -15 deg/s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286000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F2F7F9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286000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228600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Left  -5 deg/s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670048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F2F7F9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67004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267004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 0 deg/s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054096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F2F7F9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3054096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305409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Right  +5 deg/s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3438144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F2F7F9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3438144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0" y="343814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Right  +15 deg/s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3931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4251960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F2F7F9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4251960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0" y="425196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 180 m/s (energy-saving)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4636008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F2F7F9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463600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75120" y="463600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Cruise  250 m/s (balanced)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5020056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F2F7F9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5020056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75120" y="502005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 320 m/s (afterburner chase)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17920" y="54955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Action Masking prevents stall (&lt;130 m/s), ground collision (&lt;200m), overspeed.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Distribution Evolution — From Random to Deterministic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1247120" cy="13716"/>
          </a:xfrm>
          <a:prstGeom prst="rect">
            <a:avLst/>
          </a:prstGeom>
          <a:solidFill>
            <a:srgbClr val="E8F0F4"/>
          </a:solidFill>
          <a:ln/>
        </p:spPr>
      </p:sp>
      <p:pic>
        <p:nvPicPr>
          <p:cNvPr id="6" name="Image 0" descr="results/viz/paper_charts/chart1_action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11247120" cy="5029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training (0-50 iters): near-uniform action selection (exploration). Late training (250-320 iters): concentrated on optimal primitives.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Curriculum Design — Dynamic AND-Gate Annealing + Pacing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1247120" cy="13716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AND-Gate Annealing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AND-gate: BOTH &lt; threshold + pincer &gt; 30 deg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median distance = 1,974m → sync entry rate = 0%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threshold anneals 2000m → 800m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eval improved from -8,800 to -1,171 (+4,700 pts)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1,200-1,300m identified as CTDE learnability boundary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143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Cooperative Reward Mechanisms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0" y="1600200"/>
            <a:ext cx="53035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691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Distance Asymmetry Penalty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198424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|d0 - d1| &gt; 500m → team penalty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free-riding behavior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2926080"/>
            <a:ext cx="53035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3017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Time-Sync Pacing Penalty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331012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Striker &lt; 1200m &amp; Int &gt; 1500m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penalty = (d_int - d_str)/1000 x dt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4251960"/>
            <a:ext cx="53035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43434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Role Assignment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463600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Striker (closer): tracking x1.5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(further): pincer x2.0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 Component Breakdown — Curriculum in Action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1247120" cy="13716"/>
          </a:xfrm>
          <a:prstGeom prst="rect">
            <a:avLst/>
          </a:prstGeom>
          <a:solidFill>
            <a:srgbClr val="E8F0F4"/>
          </a:solidFill>
          <a:ln/>
        </p:spPr>
      </p:sp>
      <p:pic>
        <p:nvPicPr>
          <p:cNvPr id="6" name="Image 0" descr="results/viz/paper_charts/chart3_reward_breakdow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11247120" cy="5029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(OR-gate): dominated by progress + ATA. Phase 2 (AND-gate): pincer + AND bonus expand as curriculum tightens.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 Study — Six-Generation Model Comparison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1247120" cy="13716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34440"/>
            <a:ext cx="932688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12344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0" y="12344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Space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12344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0" y="123444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55280" y="12344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Eval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235440" y="123444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Eval&gt;0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1664208"/>
            <a:ext cx="9326880" cy="475488"/>
          </a:xfrm>
          <a:prstGeom prst="rect">
            <a:avLst/>
          </a:prstGeom>
          <a:solidFill>
            <a:srgbClr val="F2F7F9"/>
          </a:solidFill>
          <a:ln w="3810">
            <a:solidFill>
              <a:srgbClr val="E8F0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166420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1 (non-coop)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4640" y="166420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Attn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0" y="166420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Box(2)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1664208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SB3 BC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0" y="166420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5280" y="166420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-8,053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35440" y="166420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2185416"/>
            <a:ext cx="93268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8F0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18541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2 (OR-gate)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34640" y="218541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Attn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2185416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Box(2)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2185416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SB3 BC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2185416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55280" y="2185416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+7,888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35440" y="2185416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2706624"/>
            <a:ext cx="9326880" cy="475488"/>
          </a:xfrm>
          <a:prstGeom prst="rect">
            <a:avLst/>
          </a:prstGeom>
          <a:solidFill>
            <a:srgbClr val="F2F7F9"/>
          </a:solidFill>
          <a:ln w="3810">
            <a:solidFill>
              <a:srgbClr val="E8F0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2706624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3v3 (AND dyn)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34640" y="270662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Attn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97680" y="270662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Box(2)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35040" y="270662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SB3 BC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32320" y="2706624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955280" y="2706624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-1,171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235440" y="2706624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31520" y="3227832"/>
            <a:ext cx="93268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8F0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322783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4a (MLP)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834640" y="322783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fallback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297680" y="322783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MultiDisc(5,3)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35040" y="322783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32320" y="3227832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955280" y="322783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-4,542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235440" y="3227832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31520" y="3749040"/>
            <a:ext cx="9326880" cy="475488"/>
          </a:xfrm>
          <a:prstGeom prst="rect">
            <a:avLst/>
          </a:prstGeom>
          <a:solidFill>
            <a:srgbClr val="F2F7F9"/>
          </a:solidFill>
          <a:ln w="3810">
            <a:solidFill>
              <a:srgbClr val="E8F0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" y="37490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4a-v2 (Attn)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834640" y="374904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297680" y="374904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MultiDisc(5,3)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035040" y="374904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132320" y="374904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955280" y="374904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+1,345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235440" y="374904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31520" y="4270248"/>
            <a:ext cx="93268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8F0F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" y="427024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4b (Attn+BC)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834640" y="427024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297680" y="427024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MultiDisc(5,3)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035040" y="4270248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 BC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132320" y="427024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955280" y="427024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-1,135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235440" y="427024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31520" y="4791456"/>
            <a:ext cx="9326880" cy="475488"/>
          </a:xfrm>
          <a:prstGeom prst="rect">
            <a:avLst/>
          </a:prstGeom>
          <a:solidFill>
            <a:srgbClr val="F2F7F9"/>
          </a:solidFill>
          <a:ln w="3810">
            <a:solidFill>
              <a:srgbClr val="E8F0F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1520" y="479145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4a-v2 extended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2834640" y="479145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297680" y="4791456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MultiDisc(5,3)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035040" y="4791456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132320" y="4791456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7955280" y="4791456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+2,376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9235440" y="4791456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57200" y="5404104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 Self-Attention is the decisive factor: cold-start beats MLP by 5,887 pts. BC adds stability but no extra peak. Structure determines ceiling.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Emergent Cooperative Tactics — Zero Expert Knowledge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1247120" cy="13716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Cold-Start Self-Attention: 3x Positive Eval Spikes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943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iterations. No BC. No expert data. Pure emergence.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peak: +5,401 (iter 300)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spikes: +1,345, +2,376, +4.0 (3 positive breakthroughs)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Entropy: 2.49 -&gt; 1.87 (healthy convergence)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baseline: 0 positive spikes, best -4,542.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Self-Attn gap: 5,887 pts — purely architectural advantage.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572000"/>
            <a:ext cx="2468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4663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+2,376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5212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Eval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63240" y="4572000"/>
            <a:ext cx="2468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63240" y="4663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063240" y="5212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Spikes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4572000"/>
            <a:ext cx="2468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4663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669280" y="5212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75320" y="4572000"/>
            <a:ext cx="2468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75320" y="4663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275320" y="5212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Samples</a:t>
            </a:r>
            <a:endParaRPr lang="en-US" sz="1200" dirty="0"/>
          </a:p>
        </p:txBody>
      </p:sp>
      <p:pic>
        <p:nvPicPr>
          <p:cNvPr id="20" name="Image 0" descr="results/viz/paper_charts/chart2_spatial_k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1097280"/>
            <a:ext cx="5029200" cy="36576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858000" y="4846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KDE: 127K frames from 50 eval episodes. High-density clusters in 30-60 deg rear sector.</a:t>
            </a:r>
            <a:endParaRPr lang="en-US" sz="1100" dirty="0"/>
          </a:p>
        </p:txBody>
      </p:sp>
      <p:pic>
        <p:nvPicPr>
          <p:cNvPr id="22" name="Image 1" descr="results/viz/paper_charts/chart5_health_metric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0" y="5212080"/>
            <a:ext cx="50292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Mathematical Proof — Spontaneous Role Differentiation via Self-Attention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1247120" cy="13716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Role-Grouped Attention Matrix (7,858 steps per role, 49 episodes)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7607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by INSTANTANEOUS GEOMETRY, not agent ID.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Striker MHA:    Self-&gt;Mate = 0.450 (coordination)   Pool Mate = 0.341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MHA: Self-&gt;Target = 0.389 (pursuit)     Pool Mate = 0.298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 = -0.53 (large effect, p &lt; 0.001)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pays 31% more attention to Target than Striker.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roles sustain high mate attention (~0.44)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Continuous implicit coordination, NOT binary switching.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Definitive proof: parameter-shared network spontaneously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breaks symmetry and learns distinct role attention patterns.</a:t>
            </a:r>
            <a:endParaRPr lang="en-US" sz="1300" dirty="0"/>
          </a:p>
        </p:txBody>
      </p:sp>
      <p:pic>
        <p:nvPicPr>
          <p:cNvPr id="8" name="Image 0" descr="results/viz/fig3_role_attent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118872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Boundary Analysis — Why AND-Gate Remains Hard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1247120" cy="13716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AND-Gate Autopsy (Exp 3 checkpoint, 10 eval episodes)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303520" cy="640080"/>
          </a:xfrm>
          <a:prstGeom prst="roundRect">
            <a:avLst>
              <a:gd name="adj" fmla="val 8571"/>
            </a:avLst>
          </a:prstGeom>
          <a:solidFill>
            <a:srgbClr val="F2F7F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Entry Rate (BOTH &lt; 800m)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1600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94767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bottleneck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13432"/>
            <a:ext cx="5303520" cy="640080"/>
          </a:xfrm>
          <a:prstGeom prst="roundRect">
            <a:avLst>
              <a:gd name="adj" fmla="val 8571"/>
            </a:avLst>
          </a:prstGeom>
          <a:solidFill>
            <a:srgbClr val="F2F7F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134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Rate (&gt;=1 &lt; 800m)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0" y="23134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22.1%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66090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can approach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26664"/>
            <a:ext cx="5303520" cy="640080"/>
          </a:xfrm>
          <a:prstGeom prst="roundRect">
            <a:avLst>
              <a:gd name="adj" fmla="val 8571"/>
            </a:avLst>
          </a:prstGeom>
          <a:solidFill>
            <a:srgbClr val="F2F7F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2666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Pincer Angle &gt; 30 deg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302666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58.4%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37413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is good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39896"/>
            <a:ext cx="5303520" cy="640080"/>
          </a:xfrm>
          <a:prstGeom prst="roundRect">
            <a:avLst>
              <a:gd name="adj" fmla="val 8571"/>
            </a:avLst>
          </a:prstGeom>
          <a:solidFill>
            <a:srgbClr val="F2F7F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3989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Median Distance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0" y="373989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329 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40873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approach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453128"/>
            <a:ext cx="5303520" cy="640080"/>
          </a:xfrm>
          <a:prstGeom prst="roundRect">
            <a:avLst>
              <a:gd name="adj" fmla="val 8571"/>
            </a:avLst>
          </a:prstGeom>
          <a:solidFill>
            <a:srgbClr val="F2F7F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4531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Median Distance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0" y="445312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1,974 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" y="480060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close gap</a:t>
            </a:r>
            <a:endParaRPr lang="en-US" sz="1000" dirty="0"/>
          </a:p>
        </p:txBody>
      </p:sp>
      <p:pic>
        <p:nvPicPr>
          <p:cNvPr id="27" name="Image 0" descr="results/viz/paper_charts/chart4_termination_reas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097280"/>
            <a:ext cx="5303520" cy="38404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Theoretical Ceilings: (1) CTDE information asymmetry, (2) discrete exploration boundary, (3) lack of explicit time-to-intercept signal.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Directions — Toward NxM Scalable Formation Combat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1247120" cy="13716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112471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3258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234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Explicit Assignment Constraints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158191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Hungarian Algorithm for NvM weapon-target pairing. Solve combinatorial explosion in large-scale formation. Reference: DARPA ACE / OFFSET programs.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112471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4688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2377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Micro-Hierarchy SMDP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272491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Upper: low-freq tactical options. Lower: high-freq action masking + flight control. Bridges strategic planning and tactical execution.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112471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6118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3520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Self-Play &amp; League Training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386791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scripted targets to adversarial training. Population-based training with diversity objectives. Emergent tactics through competitive co-evolution.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112471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7548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17320" y="4663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Explicit Coordination Channels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17320" y="501091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delta-TGO to global state. Learned communication via attention or message passing. Break the AND-gate barrier with explicit temporal signals.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989320"/>
            <a:ext cx="1124712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 Questions &amp; Discussion welcome.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7200" y="66294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sean@zju.edu.cn  ·  github.com/NishimiyaXSean/jsbsim-marl-formation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RL for Cooperative Formation Flight</dc:title>
  <dc:subject>PptxGenJS Presentation</dc:subject>
  <dc:creator>Sean Nishimiya</dc:creator>
  <cp:lastModifiedBy>Sean Nishimiya</cp:lastModifiedBy>
  <cp:revision>1</cp:revision>
  <dcterms:created xsi:type="dcterms:W3CDTF">2026-07-09T17:30:15Z</dcterms:created>
  <dcterms:modified xsi:type="dcterms:W3CDTF">2026-07-09T17:30:15Z</dcterms:modified>
</cp:coreProperties>
</file>