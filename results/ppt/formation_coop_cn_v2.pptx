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71" r:id="rId13"/>
    <p:sldId id="269" r:id="rId14"/>
    <p:sldId id="265" r:id="rId15"/>
    <p:sldId id="266" r:id="rId16"/>
    <p:sldId id="267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42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159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928069" y="1215556"/>
            <a:ext cx="575873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 err="1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基于多智能体强化学习的协同飞行决策与规划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3007581" y="3072186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Token-Based CTDE with Self-Attention + Discrete Primitives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975530" y="450441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7293"/>
                </a:solidFill>
                <a:latin typeface="Calibri" pitchFamily="34" charset="0"/>
                <a:cs typeface="Calibri" pitchFamily="34" charset="-120"/>
              </a:rPr>
              <a:t>26.7.10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核心挑战 — </a:t>
            </a:r>
            <a:r>
              <a:rPr lang="en-US" sz="3000" b="1" dirty="0" err="1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协同的三大困境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51560"/>
            <a:ext cx="3749040" cy="5029200"/>
          </a:xfrm>
          <a:prstGeom prst="roundRect">
            <a:avLst>
              <a:gd name="adj" fmla="val 1463"/>
            </a:avLst>
          </a:prstGeom>
          <a:solidFill>
            <a:srgbClr val="F2F7F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88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非平稳性 Non-Stationarity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IPPO 导致对称性内卷。两个独立 Critic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使环境对每个 Agent 呈现非平稳。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训练永久卡在 -7,500 奖励平台。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3383280" cy="548640"/>
          </a:xfrm>
          <a:prstGeom prst="roundRect">
            <a:avLst>
              <a:gd name="adj" fmla="val 8333"/>
            </a:avLst>
          </a:prstGeom>
          <a:solidFill>
            <a:srgbClr val="2CC44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7091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参数共享 MAPPO (提升 4x)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051560"/>
            <a:ext cx="3749040" cy="5029200"/>
          </a:xfrm>
          <a:prstGeom prst="roundRect">
            <a:avLst>
              <a:gd name="adj" fmla="val 1463"/>
            </a:avLst>
          </a:prstGeom>
          <a:solidFill>
            <a:srgbClr val="F2F7F9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188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时序信用分配灾难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 Box(2) + 600 步剧集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DiagGaussian 方差崩溃。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策略熵失控发散至 4.15。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探索噪声淹没协同信号。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0" y="4709160"/>
            <a:ext cx="3383280" cy="548640"/>
          </a:xfrm>
          <a:prstGeom prst="roundRect">
            <a:avLst>
              <a:gd name="adj" fmla="val 8333"/>
            </a:avLst>
          </a:prstGeom>
          <a:solidFill>
            <a:srgbClr val="2CC44D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47091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离散动作: 熵理论上限 2.71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321040" y="1051560"/>
            <a:ext cx="3749040" cy="5029200"/>
          </a:xfrm>
          <a:prstGeom prst="roundRect">
            <a:avLst>
              <a:gd name="adj" fmla="val 1463"/>
            </a:avLst>
          </a:prstGeom>
          <a:solidFill>
            <a:srgbClr val="F2F7F9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1188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AND-Gate 时空盲区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03920" y="1737360"/>
            <a:ext cx="3383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要求双机同时逼近 800m + 夹击 &gt;30°。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中位距离 = 1,974m。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双机同步入线率 = 0.0%。</a:t>
            </a:r>
            <a:endParaRPr lang="en-US" sz="14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空间几何 OK (夹击 35°) 但时序脱节。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03920" y="4709160"/>
            <a:ext cx="3383280" cy="548640"/>
          </a:xfrm>
          <a:prstGeom prst="roundRect">
            <a:avLst>
              <a:gd name="adj" fmla="val 8333"/>
            </a:avLst>
          </a:prstGeom>
          <a:solidFill>
            <a:srgbClr val="2CC44D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0" y="47091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动态退火 + 配速惩罚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42CCAFD-9878-46C8-BCD7-0A743E96C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336" y="-72092"/>
            <a:ext cx="5995664" cy="338489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60DEF825-EC44-4238-9E8D-1655A4B464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426" y="3312802"/>
            <a:ext cx="6091319" cy="353233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DD060EA-EA7E-434B-9DCE-E999DAAFD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108" y="3429000"/>
            <a:ext cx="6074894" cy="329994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6D0AD21-7292-459F-AFAE-18002381F2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6074893" cy="3392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364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A: 参数共享 Self-Attention CTDE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Token-Based Multi-Head Self-Attention 网络架构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14239" y="1450271"/>
            <a:ext cx="7575604" cy="15105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观测 [33] 分解为 3 个语义 Token: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Self (13):    自身速度、姿态、角速度、高度、攻角、空速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Target (14):  目标相对位置/速度、战术几何角、LOS 率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Mate (6):     友机相对位置/</a:t>
            </a:r>
            <a:r>
              <a:rPr lang="en-US" sz="14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1400" dirty="0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A5D0352-29C6-4E28-837F-2FAB59068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561" y="3189562"/>
            <a:ext cx="11905512" cy="3579883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062FBFA6-3C0B-4B1B-85E2-849F126FDCEF}"/>
              </a:ext>
            </a:extLst>
          </p:cNvPr>
          <p:cNvSpPr/>
          <p:nvPr/>
        </p:nvSpPr>
        <p:spPr>
          <a:xfrm>
            <a:off x="5807103" y="1052483"/>
            <a:ext cx="5988657" cy="18306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endParaRPr lang="en-US" altLang="zh-CN" dirty="0"/>
          </a:p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Token-Type </a:t>
            </a: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嵌入</a:t>
            </a: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 → </a:t>
            </a: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MultiHeadAttention</a:t>
            </a: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 (4 heads, d=128)</a:t>
            </a:r>
          </a:p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→ Learned Attention Pooling → MLP [256,256] → </a:t>
            </a: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动作输出</a:t>
            </a:r>
            <a:endParaRPr lang="en-US" altLang="zh-CN" sz="1400" dirty="0">
              <a:solidFill>
                <a:srgbClr val="4A5568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30000"/>
              </a:lnSpc>
            </a:pPr>
            <a:endParaRPr lang="en-US" altLang="zh-CN" sz="1400" dirty="0">
              <a:solidFill>
                <a:srgbClr val="4A5568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30000"/>
              </a:lnSpc>
            </a:pP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共享策略</a:t>
            </a: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shared_policy</a:t>
            </a: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) → </a:t>
            </a: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置换不变性。同一网络，不同观测</a:t>
            </a: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 → </a:t>
            </a:r>
            <a:r>
              <a:rPr lang="en-US" altLang="zh-CN" sz="1400" dirty="0" err="1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注意力自发分化角色</a:t>
            </a:r>
            <a:r>
              <a:rPr lang="en-US" altLang="zh-CN" sz="14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架构重构 B: </a:t>
            </a:r>
            <a:r>
              <a:rPr lang="zh-CN" alt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离散动作空间</a:t>
            </a: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Action Masking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为何抛弃 Box(2) 连续空间?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20624" y="1563624"/>
            <a:ext cx="5303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连续 DiagGaussian → 采样无界, 需手动 clamp (±1.0)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探索在 2D 流形扩散 → 熵失控至 4.15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步剧集 → 信用分配几乎不可能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MultiDiscrete([5,3]) = 15 </a:t>
            </a:r>
            <a:r>
              <a:rPr lang="en-US" sz="14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个有界战术</a:t>
            </a:r>
            <a:r>
              <a:rPr lang="zh-CN" alt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动作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Masking: 失速禁慢速, 近地禁转向, 超速禁加力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MultiDiscrete([5, 3]) = 15 </a:t>
            </a:r>
            <a:r>
              <a:rPr lang="zh-CN" altLang="en-US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动作空间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0" y="1554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(航向, 5 档)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874520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1874520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18745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急左转 -15 deg/s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258568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258568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22585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缓左转  -5 deg/s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2642616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2642616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264261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直飞     0 deg/s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3026664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3026664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75120" y="302666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缓右转  +5 deg/s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410712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341071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41071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急右转 +15 deg/s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0" y="39776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(速度, 3 档)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4297680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2976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慢速 180 m/s (节能巡逻)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17920" y="4681728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4681728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468172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巡航 250 m/s (均衡追击)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217920" y="5065776"/>
            <a:ext cx="5303520" cy="347472"/>
          </a:xfrm>
          <a:prstGeom prst="roundRect">
            <a:avLst>
              <a:gd name="adj" fmla="val 15789"/>
            </a:avLst>
          </a:prstGeom>
          <a:solidFill>
            <a:srgbClr val="F2F7F9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5065776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506577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320 m/s (加力冲刺)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动作分布演变 — 从随机探索到确定性战术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1_action_distribu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833933"/>
            <a:ext cx="11704320" cy="5486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6217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 (0-50 轮): 动作接近均匀分布 (探索)。后期 (250-320 轮): 策略高度集中于最优基元 (确定性战术)。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课程设计 — 动态 AND-Gate 退火 + 配速惩罚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动态 AND-Gate 距离退火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7680" y="217170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问题: AND-gate 要求 BOTH &lt; 800m + pincer &gt; 30°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中位距离 1,974m → 同步入线率 = 0%</a:t>
            </a:r>
          </a:p>
          <a:p>
            <a:pPr marL="0" indent="0">
              <a:lnSpc>
                <a:spcPct val="135000"/>
              </a:lnSpc>
              <a:buNone/>
            </a:pPr>
            <a:endParaRPr lang="en-US" sz="1400" dirty="0">
              <a:solidFill>
                <a:srgbClr val="4A5568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方案: AND_DIST 从 2000m 线性退火至 800m: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Thresh = max(800, 2000 - decay_rate x </a:t>
            </a:r>
            <a:r>
              <a:rPr lang="en-US" sz="14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35000"/>
              </a:lnSpc>
              <a:buNone/>
            </a:pPr>
            <a:endParaRPr lang="en-US" sz="1400" dirty="0">
              <a:solidFill>
                <a:srgbClr val="4A5568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结果: Eval 从 -8,800 改善至 -1,171 (+4,700 分)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1,200-1,300m 被识别为 CTDE 可学习边界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三类协同奖励机制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6459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距离不对称惩罚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9659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|d0-d1| &gt; 500m -&gt; 团队受罚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阻止搭便车行为, 逼迫 P1 跟进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926080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3017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时间同步配速惩罚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33375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Striker &lt; 1200m &amp; Int &gt; 1500m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penalty = (</a:t>
            </a:r>
            <a:r>
              <a:rPr lang="en-US" sz="13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d_int-d_str</a:t>
            </a: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)/1000 x dt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强制长机等僚机, </a:t>
            </a:r>
            <a:r>
              <a:rPr lang="en-US" sz="13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防止</a:t>
            </a:r>
            <a:r>
              <a:rPr lang="zh-CN" alt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单独行动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4297680"/>
            <a:ext cx="53035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83680" y="43891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动态角色分配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47091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Striker (近距离): 追击奖励 x1.5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 (远距离): 夹击奖励 x2.0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消除懒惰 Agent 动机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奖励成分解耦 — 课程学习效果验证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pic>
        <p:nvPicPr>
          <p:cNvPr id="6" name="Image 0" descr="results/viz/paper_charts/chart3_reward_breakdow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" y="1051560"/>
            <a:ext cx="11704320" cy="5486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1310" y="6384747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(OR-gate): 奖励由 Progress + ATA 主导。Phase 2 (AND-gate): Pincer + AND Bonus 随课程收紧逐步扩张, 未出现 Reward Hacking。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消融实验</a:t>
            </a:r>
            <a:r>
              <a:rPr lang="zh-CN" alt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对比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43000"/>
            <a:ext cx="941832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430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实验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11430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11430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动作空间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1430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49440" y="1143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轮数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11430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 Eval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052560" y="1143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Eval&gt;0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00200"/>
            <a:ext cx="9418320" cy="530352"/>
          </a:xfrm>
          <a:prstGeom prst="rect">
            <a:avLst/>
          </a:prstGeom>
          <a:solidFill>
            <a:srgbClr val="F2F7F9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60020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1 (非协同)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160020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160020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52160" y="160020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16002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1600200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-8,053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160020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176272"/>
            <a:ext cx="94183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176272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2 (OR-gate)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60320" y="2176272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0" y="2176272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852160" y="2176272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49440" y="2176272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2176272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+7,888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52560" y="2176272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2752344"/>
            <a:ext cx="9418320" cy="530352"/>
          </a:xfrm>
          <a:prstGeom prst="rect">
            <a:avLst/>
          </a:prstGeom>
          <a:solidFill>
            <a:srgbClr val="F2F7F9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52344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3v3 (AND退火)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60320" y="2752344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Attn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0" y="2752344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Box(2)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2752344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SB3 BC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49440" y="2752344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0" y="2752344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-1,171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052560" y="2752344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3328416"/>
            <a:ext cx="94183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328416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4a (MLP 降级)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560320" y="3328416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fallback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114800" y="3328416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MultiDisc(5,3)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852160" y="3328416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949440" y="3328416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772400" y="3328416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-4,542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052560" y="3328416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3904488"/>
            <a:ext cx="9418320" cy="530352"/>
          </a:xfrm>
          <a:prstGeom prst="rect">
            <a:avLst/>
          </a:prstGeom>
          <a:solidFill>
            <a:srgbClr val="F2F7F9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904488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4a-v2 (Attn)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560320" y="3904488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14800" y="390448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MultiDisc(5,3)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852160" y="3904488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9440" y="3904488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772400" y="3904488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+1,345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052560" y="3904488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4480560"/>
            <a:ext cx="941832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80560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 4b (Attn+BC)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560320" y="4480560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114800" y="448056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MultiDisc(5,3)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852160" y="448056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离散BC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949440" y="448056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772400" y="4480560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-1,135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052560" y="4480560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57200" y="5056632"/>
            <a:ext cx="9418320" cy="530352"/>
          </a:xfrm>
          <a:prstGeom prst="rect">
            <a:avLst/>
          </a:prstGeom>
          <a:solidFill>
            <a:srgbClr val="F2F7F9"/>
          </a:solidFill>
          <a:ln w="3810">
            <a:solidFill>
              <a:srgbClr val="E8F0F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" y="5056632"/>
            <a:ext cx="2103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4a-v2 续训320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2560320" y="5056632"/>
            <a:ext cx="1554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114800" y="5056632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MultiDisc(5,3)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852160" y="5056632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949440" y="5056632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772400" y="5056632"/>
            <a:ext cx="12801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+2,376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9052560" y="5056632"/>
            <a:ext cx="822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65760" y="5724144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Self-Attention 是决定性因素: 冷启动 Attn 超越 MLP 达 5,887 分。BC 提供稳定性但无额外峰值。结构决定上限。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从零涌现的协同战术</a:t>
            </a: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(Zero-Knowledge Emergence)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冷启动 Self-Attention — 320 轮, 零专家数据, 零 BC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1007828"/>
            <a:ext cx="6400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训练峰值: +5,401 (第 300 轮)    |    策略熵: 2.49 -&gt; 1.87 (健康收敛)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+1,345,  +2,376,  +4.0 — 三次 Eval 正向突破!    |    KL: 0.004-0.013 (平稳可控)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 MLP 基线: 0 次正向突破, 最佳 -4,542.    Self-Attn: 3 次突破, 差距 5,887 分.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结构决定上限. Token 架构仅凭物理交互, 零专家知识, 自发涌现协同追猎行为.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3840480"/>
            <a:ext cx="24231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27412" y="109012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+2,376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627412" y="16570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 Eval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260282" y="4997196"/>
            <a:ext cx="24231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27412" y="232456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3x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627412" y="289149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正向突破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59132" y="1007828"/>
            <a:ext cx="242316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59132" y="10809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959132" y="164790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训练轮数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59132" y="2253797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959132" y="2820725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专家样本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256702" y="4840992"/>
            <a:ext cx="38106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KDE: 50 集 Eval, 127K 帧. 目标尾部 30-60 deg 扇区高密度聚集 — 统计级合围几何收敛.</a:t>
            </a:r>
            <a:endParaRPr lang="en-US" sz="1100" dirty="0"/>
          </a:p>
        </p:txBody>
      </p:sp>
      <p:pic>
        <p:nvPicPr>
          <p:cNvPr id="22" name="Image 1" descr="results/viz/paper_charts/chart5_health_metric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7971" y="2907434"/>
            <a:ext cx="6890942" cy="37279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EB764CE5-D208-4DB2-930F-6285DEBBC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27" y="437321"/>
            <a:ext cx="5638779" cy="6065079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86A727F9-3792-47CC-B6F9-57A2BE5BE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2517" y="546100"/>
            <a:ext cx="5447340" cy="576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542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B00B900A-6DE7-427F-9EA2-428B776033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9" y="60454"/>
            <a:ext cx="11340879" cy="673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431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sults/viz/paper_charts/chart2_spatial_kde.png">
            <a:extLst>
              <a:ext uri="{FF2B5EF4-FFF2-40B4-BE49-F238E27FC236}">
                <a16:creationId xmlns:a16="http://schemas.microsoft.com/office/drawing/2014/main" id="{3BC32FDF-B6ED-4D1A-893B-BEC12242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55593" y="438082"/>
            <a:ext cx="9878058" cy="5584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867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参数共享网络的自发角色分化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Text 4"/>
          <p:cNvSpPr/>
          <p:nvPr/>
        </p:nvSpPr>
        <p:spPr>
          <a:xfrm>
            <a:off x="420624" y="1016625"/>
            <a:ext cx="3839119" cy="650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角色分组均值注意力矩阵 (49 集, 7,858 步/角色, 按瞬时几何分角色)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20624" y="2343646"/>
            <a:ext cx="3932715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Striker MHA:  Self-&gt;Mate = 0.450 (协调)    Pool Mate = 0.341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 MHA: Self-&gt;Target = 0.389 (追击)  Pool Mate = 0.298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 = -0.53 (大效应量, p &lt; 0.001)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Interceptor 对 Target 的关注比 Striker 高 31%.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双机 MHA Self-&gt;Mate 均维持 ~0.44 高水平.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持续性隐式协调 — 非二元切换 — 参数共享网络自发打破对称性的终极证据.</a:t>
            </a:r>
            <a:endParaRPr lang="en-US" sz="1400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20611D0-92BD-49E2-B4B3-7C100DFC0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194" y="685031"/>
            <a:ext cx="7107832" cy="61277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边界分析: AND-Gate 为何最终回落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AND-Gate 死亡解剖 (Exp 3 checkpoint, 10 集 Eval)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5120640" cy="621792"/>
          </a:xfrm>
          <a:prstGeom prst="roundRect">
            <a:avLst>
              <a:gd name="adj" fmla="val 8824"/>
            </a:avLst>
          </a:prstGeom>
          <a:solidFill>
            <a:srgbClr val="F2F7F9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5448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双机同步入线率 (BOTH &lt; 800m)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554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0.0%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19019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致命瓶颈 — 零次!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120640" cy="621792"/>
          </a:xfrm>
          <a:prstGeom prst="roundRect">
            <a:avLst>
              <a:gd name="adj" fmla="val 8824"/>
            </a:avLst>
          </a:prstGeom>
          <a:solidFill>
            <a:srgbClr val="F2F7F9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3113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单机入线率 (&gt;=1 &lt; 800m)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23360" y="223113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22.1%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257860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可以接近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907792"/>
            <a:ext cx="5120640" cy="621792"/>
          </a:xfrm>
          <a:prstGeom prst="roundRect">
            <a:avLst>
              <a:gd name="adj" fmla="val 8824"/>
            </a:avLst>
          </a:prstGeom>
          <a:solidFill>
            <a:srgbClr val="F2F7F9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90779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夹击角 &gt; 30 deg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23360" y="290779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58.4%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25526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空间几何合格!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584448"/>
            <a:ext cx="5120640" cy="621792"/>
          </a:xfrm>
          <a:prstGeom prst="roundRect">
            <a:avLst>
              <a:gd name="adj" fmla="val 8824"/>
            </a:avLst>
          </a:prstGeom>
          <a:solidFill>
            <a:srgbClr val="F2F7F9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58444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中位距离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58444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329 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逼近出色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1000" y="4302848"/>
            <a:ext cx="5120640" cy="621792"/>
          </a:xfrm>
          <a:prstGeom prst="roundRect">
            <a:avLst>
              <a:gd name="adj" fmla="val 8824"/>
            </a:avLst>
          </a:prstGeom>
          <a:solidFill>
            <a:srgbClr val="F2F7F9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261104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中位距离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023360" y="426110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1,974 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8640" y="460857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无法缩小差距</a:t>
            </a:r>
            <a:endParaRPr lang="en-US" sz="1000" dirty="0"/>
          </a:p>
        </p:txBody>
      </p:sp>
      <p:pic>
        <p:nvPicPr>
          <p:cNvPr id="27" name="Image 0" descr="results/viz/paper_charts/chart4_termination_reason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882640" y="1516950"/>
            <a:ext cx="5943600" cy="36576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81000" y="557784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三大理论天花板: (1) CTDE 信息不对称 — 33-dim 局部观测无法编码全局协调状态. (2) 离散探索边界 — 15 基元在严格 800m 下接近饱和. (3) 缺乏显式预期到达时间差 ΔTGO 信号.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28600"/>
            <a:ext cx="54864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51560" y="1828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未来探索方向 — 迈向 NxM 规模化编队对抗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1430000" cy="10973"/>
          </a:xfrm>
          <a:prstGeom prst="rect">
            <a:avLst/>
          </a:prstGeom>
          <a:solidFill>
            <a:srgbClr val="E8F0F4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97280"/>
            <a:ext cx="114300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118872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显式运筹约束 (Hungarian Algorithm)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153619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引入匈牙利算法解决 NvM 编队的火力-目标分配组合爆炸. 参考 DARPA ACE / OFFSET 项目框架.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286000"/>
            <a:ext cx="114300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46888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237744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微层级半马尔可夫 SMDP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272491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上层: 低频战术选项选择. 下层: 高频 Action Masking + 飞控执行. 桥接战略规划与战术执行.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114300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65760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657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56616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Self-Play 自我对局与联赛训练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391363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超越脚本目标, 进入对抗性训练. 基于种群多样性的 League Training. 竞争性共同进化涌现高阶战术.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663440"/>
            <a:ext cx="114300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C0D0D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46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25880" y="475488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显式协同通信信道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51023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 ΔTGO 预期到达时间差. 通过 Attention 或 Message Passing 学习通信. 用显式时序信号突破 AND-Gate.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5989320"/>
            <a:ext cx="11430000" cy="27432"/>
          </a:xfrm>
          <a:prstGeom prst="rect">
            <a:avLst/>
          </a:prstGeom>
          <a:solidFill>
            <a:srgbClr val="F9616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1008</Words>
  <Application>Microsoft Office PowerPoint</Application>
  <PresentationFormat>宽屏</PresentationFormat>
  <Paragraphs>226</Paragraphs>
  <Slides>16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Arial</vt:lpstr>
      <vt:lpstr>Calibri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基于MARL的协同编队飞行决策</dc:title>
  <dc:subject>PptxGenJS Presentation</dc:subject>
  <dc:creator>Sean Nishimiya</dc:creator>
  <cp:lastModifiedBy>Sean</cp:lastModifiedBy>
  <cp:revision>17</cp:revision>
  <dcterms:created xsi:type="dcterms:W3CDTF">2026-07-10T02:23:24Z</dcterms:created>
  <dcterms:modified xsi:type="dcterms:W3CDTF">2026-07-10T05:37:51Z</dcterms:modified>
</cp:coreProperties>
</file>